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120">
          <p15:clr>
            <a:srgbClr val="A4A3A4"/>
          </p15:clr>
        </p15:guide>
        <p15:guide id="2" orient="horz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80" y="84"/>
      </p:cViewPr>
      <p:guideLst>
        <p:guide pos="5120"/>
        <p:guide orient="horz"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2049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323771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6/21/2026</a:t>
            </a:fld>
            <a:endParaRPr lang="en-US"/>
          </a:p>
        </p:txBody>
      </p:sp>
      <p:sp>
        <p:nvSpPr>
          <p:cNvPr id="1278150430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8934435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976983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755539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38605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5535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8871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858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616647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38902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9300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73381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98412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50651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7523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849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59052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34918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5967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28750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8581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0859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32677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81981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611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29609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26846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5938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37220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63814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4371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697BAB-5CF4-AED8-A213-23A11C442247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580089" name="Text 0"/>
          <p:cNvSpPr/>
          <p:nvPr/>
        </p:nvSpPr>
        <p:spPr bwMode="auto">
          <a:xfrm>
            <a:off x="1016000" y="2286000"/>
            <a:ext cx="14224000" cy="22860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  <a:defRPr/>
            </a:pPr>
            <a:r>
              <a:rPr lang="en-US" sz="64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geoseg v2</a:t>
            </a:r>
            <a:endParaRPr lang="en-US" sz="6400"/>
          </a:p>
          <a:p>
            <a:pPr algn="ctr">
              <a:lnSpc>
                <a:spcPct val="130000"/>
              </a:lnSpc>
              <a:defRPr/>
            </a:pPr>
            <a:r>
              <a:rPr lang="en-US" sz="64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项目状态总览</a:t>
            </a:r>
            <a:endParaRPr lang="en-US" sz="6400"/>
          </a:p>
        </p:txBody>
      </p:sp>
      <p:sp>
        <p:nvSpPr>
          <p:cNvPr id="1909436869" name="Text 1"/>
          <p:cNvSpPr/>
          <p:nvPr/>
        </p:nvSpPr>
        <p:spPr bwMode="auto">
          <a:xfrm>
            <a:off x="254000" y="5080000"/>
            <a:ext cx="15748000" cy="6350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  <a:defRPr/>
            </a:pPr>
            <a:r>
              <a:rPr lang="en-US" sz="2800">
                <a:solidFill>
                  <a:srgbClr val="666666"/>
                </a:solidFill>
                <a:latin typeface="华文中宋"/>
                <a:ea typeface="华文中宋"/>
                <a:cs typeface="华文中宋"/>
              </a:rPr>
              <a:t>审计日期：2026-06-17　|　代码库：/Users/daiduo2/geoseg　|　分支：feat/regional-fusion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116622" name="Text 0"/>
          <p:cNvSpPr/>
          <p:nvPr/>
        </p:nvSpPr>
        <p:spPr bwMode="auto">
          <a:xfrm>
            <a:off x="500761" y="427482"/>
            <a:ext cx="5060061" cy="861822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48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目录</a:t>
            </a:r>
            <a:endParaRPr lang="en-US" sz="4800"/>
          </a:p>
        </p:txBody>
      </p:sp>
      <p:sp>
        <p:nvSpPr>
          <p:cNvPr id="328575573" name="Text 1"/>
          <p:cNvSpPr/>
          <p:nvPr/>
        </p:nvSpPr>
        <p:spPr bwMode="auto">
          <a:xfrm>
            <a:off x="976248" y="2540000"/>
            <a:ext cx="8890000" cy="697611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1. 项目概述</a:t>
            </a:r>
            <a:endParaRPr lang="en-US" sz="3750"/>
          </a:p>
        </p:txBody>
      </p:sp>
      <p:sp>
        <p:nvSpPr>
          <p:cNvPr id="1307193560" name="Text 2"/>
          <p:cNvSpPr/>
          <p:nvPr/>
        </p:nvSpPr>
        <p:spPr bwMode="auto">
          <a:xfrm>
            <a:off x="976248" y="3556000"/>
            <a:ext cx="8890000" cy="697611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2. Pipeline 架构</a:t>
            </a:r>
            <a:endParaRPr lang="en-US" sz="3750"/>
          </a:p>
        </p:txBody>
      </p:sp>
      <p:sp>
        <p:nvSpPr>
          <p:cNvPr id="573666912" name="Text 3"/>
          <p:cNvSpPr/>
          <p:nvPr/>
        </p:nvSpPr>
        <p:spPr bwMode="auto">
          <a:xfrm>
            <a:off x="976248" y="4572000"/>
            <a:ext cx="8890000" cy="697611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3. 实验方向与经验教训</a:t>
            </a:r>
            <a:endParaRPr lang="en-US" sz="3750"/>
          </a:p>
        </p:txBody>
      </p:sp>
      <p:sp>
        <p:nvSpPr>
          <p:cNvPr id="1833298003" name="Text 4"/>
          <p:cNvSpPr/>
          <p:nvPr/>
        </p:nvSpPr>
        <p:spPr bwMode="auto">
          <a:xfrm>
            <a:off x="976248" y="5587999"/>
            <a:ext cx="3373032" cy="72857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4. 当前算法状态</a:t>
            </a:r>
            <a:endParaRPr lang="en-US" sz="375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667157" name="Text 0"/>
          <p:cNvSpPr/>
          <p:nvPr/>
        </p:nvSpPr>
        <p:spPr bwMode="auto">
          <a:xfrm>
            <a:off x="508000" y="431799"/>
            <a:ext cx="7620000" cy="698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项目简介与核心原则</a:t>
            </a:r>
            <a:endParaRPr lang="en-US" sz="3750"/>
          </a:p>
        </p:txBody>
      </p:sp>
      <p:sp>
        <p:nvSpPr>
          <p:cNvPr id="976357533" name="Text 1"/>
          <p:cNvSpPr/>
          <p:nvPr/>
        </p:nvSpPr>
        <p:spPr bwMode="auto">
          <a:xfrm>
            <a:off x="508000" y="1397000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项目定位</a:t>
            </a:r>
            <a:endParaRPr lang="en-US" sz="3200"/>
          </a:p>
        </p:txBody>
      </p:sp>
      <p:sp>
        <p:nvSpPr>
          <p:cNvPr id="1609883551" name="Text 2"/>
          <p:cNvSpPr/>
          <p:nvPr/>
        </p:nvSpPr>
        <p:spPr bwMode="auto">
          <a:xfrm>
            <a:off x="508000" y="2095500"/>
            <a:ext cx="736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15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geoseg v2 是一个</a:t>
            </a:r>
            <a:r>
              <a:rPr lang="en-US" sz="21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从地球物理解释图里自动提取速度分区概念模型</a:t>
            </a:r>
            <a:r>
              <a:rPr lang="en-US" sz="215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的 CLI 工具链。</a:t>
            </a:r>
            <a:endParaRPr lang="en-US" sz="215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输入：论文中的图片 / PDF</a:t>
            </a:r>
            <a:endParaRPr lang="en-US" sz="2150"/>
          </a:p>
          <a:p>
            <a:pPr algn="l">
              <a:lnSpc>
                <a:spcPct val="160000"/>
              </a:lnSpc>
              <a:defRPr/>
            </a:pPr>
            <a:r>
              <a:rPr lang="en-US" sz="215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输出：SPECFEM 可用的速度分区文件</a:t>
            </a:r>
            <a:endParaRPr lang="en-US" sz="2150"/>
          </a:p>
          <a:p>
            <a:pPr algn="l">
              <a:lnSpc>
                <a:spcPct val="160000"/>
              </a:lnSpc>
              <a:spcBef>
                <a:spcPts val="1000"/>
              </a:spcBef>
              <a:defRPr/>
            </a:pPr>
            <a:r>
              <a:rPr lang="en-US" sz="215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驱动方式：Claude Code Agent 驱动，人在关键节点（分类判断、边界修正）进行干预。</a:t>
            </a:r>
            <a:endParaRPr lang="en-US" sz="2150"/>
          </a:p>
        </p:txBody>
      </p:sp>
      <p:sp>
        <p:nvSpPr>
          <p:cNvPr id="1135261407" name="Text 3"/>
          <p:cNvSpPr/>
          <p:nvPr/>
        </p:nvSpPr>
        <p:spPr bwMode="auto">
          <a:xfrm>
            <a:off x="508000" y="5651500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核心原则</a:t>
            </a:r>
            <a:endParaRPr lang="en-US" sz="3200"/>
          </a:p>
        </p:txBody>
      </p:sp>
      <p:sp>
        <p:nvSpPr>
          <p:cNvPr id="446334653" name="Text 4"/>
          <p:cNvSpPr/>
          <p:nvPr/>
        </p:nvSpPr>
        <p:spPr bwMode="auto">
          <a:xfrm>
            <a:off x="508000" y="6350000"/>
            <a:ext cx="736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24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只做</a:t>
            </a:r>
            <a:r>
              <a:rPr lang="en-US" sz="2400" b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概念模型提取</a:t>
            </a:r>
            <a:r>
              <a:rPr lang="en-US" sz="24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，不做正演、不做反演、不做波形模拟。</a:t>
            </a:r>
            <a:endParaRPr lang="en-US" sz="2400"/>
          </a:p>
        </p:txBody>
      </p:sp>
      <p:sp>
        <p:nvSpPr>
          <p:cNvPr id="1151564980" name="Text 6"/>
          <p:cNvSpPr/>
          <p:nvPr/>
        </p:nvSpPr>
        <p:spPr bwMode="auto">
          <a:xfrm>
            <a:off x="8382000" y="4191000"/>
            <a:ext cx="736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150">
                <a:solidFill>
                  <a:srgbClr val="999999"/>
                </a:solidFill>
                <a:latin typeface="华文中宋"/>
                <a:ea typeface="华文中宋"/>
                <a:cs typeface="华文中宋"/>
              </a:rPr>
              <a:t>[ 项目架构图 ]</a:t>
            </a:r>
            <a:endParaRPr lang="en-US" sz="2150"/>
          </a:p>
        </p:txBody>
      </p:sp>
      <p:pic>
        <p:nvPicPr>
          <p:cNvPr id="1626335618" name="Picture 8" descr="project_architecture_slide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82000" y="1397000"/>
            <a:ext cx="7366000" cy="596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761852" name="Text 0"/>
          <p:cNvSpPr/>
          <p:nvPr/>
        </p:nvSpPr>
        <p:spPr bwMode="auto">
          <a:xfrm>
            <a:off x="508000" y="431799"/>
            <a:ext cx="7620000" cy="698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五道工序流水线</a:t>
            </a:r>
            <a:endParaRPr lang="en-US" sz="3750"/>
          </a:p>
        </p:txBody>
      </p:sp>
      <p:sp>
        <p:nvSpPr>
          <p:cNvPr id="1791174370" name="Text 1"/>
          <p:cNvSpPr/>
          <p:nvPr/>
        </p:nvSpPr>
        <p:spPr bwMode="auto">
          <a:xfrm>
            <a:off x="507999" y="1396999"/>
            <a:ext cx="9412882" cy="5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[1] </a:t>
            </a:r>
            <a:r>
              <a:rPr lang="en-US" sz="24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图面分类</a:t>
            </a:r>
            <a:r>
              <a:rPr lang="en-US" sz="24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判断图片是否值得处理（速度模型</a:t>
            </a:r>
            <a:r>
              <a:rPr lang="en-US" sz="24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观测数据</a:t>
            </a:r>
            <a:r>
              <a:rPr lang="en-US" sz="24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/ </a:t>
            </a:r>
            <a:r>
              <a:rPr lang="en-US" sz="24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无关</a:t>
            </a:r>
            <a:r>
              <a:rPr lang="en-US" sz="24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）</a:t>
            </a:r>
            <a:endParaRPr sz="2400" dirty="0"/>
          </a:p>
        </p:txBody>
      </p:sp>
      <p:sp>
        <p:nvSpPr>
          <p:cNvPr id="2018763496" name="Text 3"/>
          <p:cNvSpPr/>
          <p:nvPr/>
        </p:nvSpPr>
        <p:spPr bwMode="auto">
          <a:xfrm>
            <a:off x="507999" y="2222499"/>
            <a:ext cx="7927291" cy="509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[2] </a:t>
            </a:r>
            <a:r>
              <a:rPr lang="en-US" sz="24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面板检测</a:t>
            </a:r>
            <a:r>
              <a:rPr lang="en-US" sz="24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切出有效面板，去掉颜色条、坐标轴等干扰</a:t>
            </a:r>
            <a:endParaRPr sz="2400" dirty="0"/>
          </a:p>
        </p:txBody>
      </p:sp>
      <p:sp>
        <p:nvSpPr>
          <p:cNvPr id="237202914" name="Text 5"/>
          <p:cNvSpPr/>
          <p:nvPr/>
        </p:nvSpPr>
        <p:spPr bwMode="auto">
          <a:xfrm>
            <a:off x="507999" y="3047999"/>
            <a:ext cx="6688899" cy="5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[3] 自动分割</a:t>
            </a:r>
            <a:r>
              <a:rPr lang="en-US" sz="24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将面板里的地质层 / 速度分区分开</a:t>
            </a:r>
            <a:endParaRPr sz="2400"/>
          </a:p>
        </p:txBody>
      </p:sp>
      <p:sp>
        <p:nvSpPr>
          <p:cNvPr id="1062183217" name="Text 7"/>
          <p:cNvSpPr/>
          <p:nvPr/>
        </p:nvSpPr>
        <p:spPr bwMode="auto">
          <a:xfrm>
            <a:off x="507999" y="3873499"/>
            <a:ext cx="7927291" cy="521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[4] </a:t>
            </a:r>
            <a:r>
              <a:rPr lang="en-US" sz="24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质量审查</a:t>
            </a:r>
            <a:r>
              <a:rPr lang="en-US" sz="24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</a:t>
            </a:r>
            <a:r>
              <a:rPr lang="en-US" sz="24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视觉检查，不过关则重试或标记需返回重修</a:t>
            </a:r>
            <a:endParaRPr sz="2400" dirty="0"/>
          </a:p>
        </p:txBody>
      </p:sp>
      <p:sp>
        <p:nvSpPr>
          <p:cNvPr id="169582950" name="Text 9"/>
          <p:cNvSpPr/>
          <p:nvPr/>
        </p:nvSpPr>
        <p:spPr bwMode="auto">
          <a:xfrm>
            <a:off x="507999" y="4698999"/>
            <a:ext cx="8099801" cy="5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[5] 后处理 / 导出</a:t>
            </a:r>
            <a:r>
              <a:rPr lang="en-US" sz="24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提取多边形、赋值速度、导出 SPECFEM</a:t>
            </a:r>
            <a:endParaRPr sz="2400"/>
          </a:p>
        </p:txBody>
      </p:sp>
      <p:sp>
        <p:nvSpPr>
          <p:cNvPr id="1912669111" name="Text 11"/>
          <p:cNvSpPr/>
          <p:nvPr/>
        </p:nvSpPr>
        <p:spPr bwMode="auto">
          <a:xfrm>
            <a:off x="508000" y="6858000"/>
            <a:ext cx="152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150">
                <a:solidFill>
                  <a:srgbClr val="999999"/>
                </a:solidFill>
                <a:latin typeface="华文中宋"/>
                <a:ea typeface="华文中宋"/>
                <a:cs typeface="华文中宋"/>
              </a:rPr>
              <a:t>[ Pipeline 流程图 ]</a:t>
            </a:r>
            <a:endParaRPr lang="en-US" sz="2150"/>
          </a:p>
        </p:txBody>
      </p:sp>
      <p:pic>
        <p:nvPicPr>
          <p:cNvPr id="252106646" name="Picture 13" descr="pipeline_overall_slide6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3693" y="5345059"/>
            <a:ext cx="15775110" cy="3417940"/>
          </a:xfrm>
          <a:prstGeom prst="rect">
            <a:avLst/>
          </a:prstGeom>
        </p:spPr>
      </p:pic>
      <p:sp>
        <p:nvSpPr>
          <p:cNvPr id="649035281" name="文本框 649035280"/>
          <p:cNvSpPr txBox="1"/>
          <p:nvPr/>
        </p:nvSpPr>
        <p:spPr bwMode="auto">
          <a:xfrm>
            <a:off x="825586" y="1701834"/>
            <a:ext cx="4685996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Q</a:t>
            </a:r>
            <a:r>
              <a:rPr lang="zh-Hans" sz="1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sz="14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如何</a:t>
            </a:r>
            <a:r>
              <a:rPr sz="1400" b="1" dirty="0" err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自动化</a:t>
            </a:r>
            <a:r>
              <a:rPr sz="14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判断图片类型</a:t>
            </a:r>
            <a:r>
              <a:rPr lang="zh-Hans" sz="1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？</a:t>
            </a:r>
            <a:endParaRPr sz="1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defRPr/>
            </a:pPr>
            <a:r>
              <a:rPr lang="zh-Han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A：利用</a:t>
            </a:r>
            <a:r>
              <a:rPr lang="zh-Hans" sz="1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多模态llm 基座</a:t>
            </a:r>
            <a:r>
              <a:rPr lang="zh-Han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驱动的 agent 直接给出</a:t>
            </a:r>
            <a:r>
              <a:rPr lang="zh-Hans" sz="1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语义判断</a:t>
            </a:r>
            <a:endParaRPr sz="1400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46347073" name="文本框 1646347072"/>
          <p:cNvSpPr txBox="1"/>
          <p:nvPr/>
        </p:nvSpPr>
        <p:spPr bwMode="auto">
          <a:xfrm>
            <a:off x="825586" y="4219187"/>
            <a:ext cx="1447871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1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Q</a:t>
            </a:r>
            <a:r>
              <a:rPr lang="zh-Hans" altLang="en-US" sz="1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sz="14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如何</a:t>
            </a:r>
            <a:r>
              <a:rPr sz="1400" b="1" dirty="0" err="1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自动化</a:t>
            </a:r>
            <a:r>
              <a:rPr sz="14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视觉审查</a:t>
            </a:r>
            <a:r>
              <a:rPr lang="zh-Hans" altLang="en-US" sz="1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？</a:t>
            </a:r>
            <a:endParaRPr sz="1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defRPr/>
            </a:pPr>
            <a:r>
              <a:rPr lang="en-US" altLang="zh-Han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Hans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：将分区区域填充高对比度颜色，作为</a:t>
            </a:r>
            <a:r>
              <a:rPr lang="zh-Hans" altLang="en-US" sz="1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掩膜</a:t>
            </a:r>
            <a:r>
              <a:rPr lang="zh-Hans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覆盖到原图像上，从而视觉审计 </a:t>
            </a:r>
            <a:r>
              <a:rPr lang="en-US" altLang="zh-Han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agent </a:t>
            </a:r>
            <a:r>
              <a:rPr lang="zh-Hans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能够直接通过</a:t>
            </a:r>
            <a:r>
              <a:rPr lang="zh-Hans" altLang="en-US" sz="1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指涉区域颜色而定位到具体的区域</a:t>
            </a:r>
            <a:r>
              <a:rPr lang="zh-Hans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（当前多模态 </a:t>
            </a:r>
            <a:r>
              <a:rPr lang="en-US" altLang="zh-Hans" sz="14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llm</a:t>
            </a:r>
            <a:r>
              <a:rPr lang="en-US" altLang="zh-Han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Hans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仍</a:t>
            </a:r>
            <a:r>
              <a:rPr lang="zh-Hans" altLang="en-US" sz="1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难以完成像素级别的图像</a:t>
            </a:r>
            <a:r>
              <a:rPr lang="zh-CN" altLang="en-US" sz="1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定位</a:t>
            </a:r>
            <a:r>
              <a:rPr lang="zh-Hans" altLang="en-US" sz="14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817069" name="Text 0"/>
          <p:cNvSpPr/>
          <p:nvPr/>
        </p:nvSpPr>
        <p:spPr bwMode="auto">
          <a:xfrm>
            <a:off x="508000" y="431799"/>
            <a:ext cx="7620000" cy="698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人机交互模型</a:t>
            </a:r>
            <a:endParaRPr lang="en-US" sz="3750"/>
          </a:p>
        </p:txBody>
      </p:sp>
      <p:sp>
        <p:nvSpPr>
          <p:cNvPr id="851771770" name="Text 1"/>
          <p:cNvSpPr/>
          <p:nvPr/>
        </p:nvSpPr>
        <p:spPr bwMode="auto">
          <a:xfrm>
            <a:off x="508000" y="1397000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协作模式</a:t>
            </a:r>
            <a:endParaRPr lang="en-US" sz="3200"/>
          </a:p>
        </p:txBody>
      </p:sp>
      <p:sp>
        <p:nvSpPr>
          <p:cNvPr id="590029331" name="Text 2"/>
          <p:cNvSpPr/>
          <p:nvPr/>
        </p:nvSpPr>
        <p:spPr bwMode="auto">
          <a:xfrm>
            <a:off x="508000" y="20955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不是全自动化，而是</a:t>
            </a:r>
            <a:r>
              <a:rPr 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en-US" sz="215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Agent </a:t>
            </a:r>
            <a:r>
              <a:rPr lang="en-US" sz="21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主导</a:t>
            </a:r>
            <a:r>
              <a:rPr lang="en-US" sz="215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+ </a:t>
            </a:r>
            <a:r>
              <a:rPr lang="en-US" sz="21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人在关键处把关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。整个流程</a:t>
            </a:r>
            <a:r>
              <a:rPr lang="zh-CN" alt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已封装为</a:t>
            </a:r>
            <a:r>
              <a:rPr lang="en-US" altLang="zh-CN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Claude Code</a:t>
            </a:r>
            <a:r>
              <a:rPr lang="zh-CN" altLang="en-U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原生</a:t>
            </a:r>
            <a:r>
              <a:rPr lang="en-US" altLang="zh-CN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Dynamic Workflow</a:t>
            </a:r>
            <a:r>
              <a:rPr lang="zh-CN" alt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，重要模块已封装为</a:t>
            </a:r>
            <a:r>
              <a:rPr lang="en-US" altLang="zh-CN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skills</a:t>
            </a:r>
            <a:r>
              <a:rPr 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2150" dirty="0"/>
          </a:p>
        </p:txBody>
      </p:sp>
      <p:sp>
        <p:nvSpPr>
          <p:cNvPr id="77477751" name="Text 3"/>
          <p:cNvSpPr/>
          <p:nvPr/>
        </p:nvSpPr>
        <p:spPr bwMode="auto">
          <a:xfrm>
            <a:off x="508000" y="4023900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已实现的交互逻辑</a:t>
            </a:r>
            <a:endParaRPr lang="en-US" sz="3200" dirty="0"/>
          </a:p>
        </p:txBody>
      </p:sp>
      <p:sp>
        <p:nvSpPr>
          <p:cNvPr id="32995962" name="Text 4"/>
          <p:cNvSpPr/>
          <p:nvPr/>
        </p:nvSpPr>
        <p:spPr bwMode="auto">
          <a:xfrm>
            <a:off x="508000" y="4710368"/>
            <a:ext cx="7366000" cy="463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8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1. </a:t>
            </a: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分类确认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— Agent </a:t>
            </a:r>
            <a:r>
              <a:rPr lang="en-US" sz="1800" dirty="0" err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视觉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判断，置信度不足时询问用户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  <a:defRPr/>
            </a:pPr>
            <a:r>
              <a:rPr lang="en-US" sz="18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2. </a:t>
            </a: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面板选择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多面板图编号展示，用户自然语言指定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  <a:defRPr/>
            </a:pPr>
            <a:r>
              <a:rPr lang="en-US" sz="18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3. </a:t>
            </a: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分割结果审查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展示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overlay +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指标，用户可选择接受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/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修改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/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重跑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/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跳过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  <a:defRPr/>
            </a:pPr>
            <a:r>
              <a:rPr lang="en-US" sz="18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4. </a:t>
            </a: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napari</a:t>
            </a:r>
            <a:r>
              <a:rPr lang="en-US" sz="18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边界编辑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阻塞式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GUI，支持画线分割、画多边形、删除边界、拖拽顶点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600"/>
              </a:spcBef>
              <a:defRPr/>
            </a:pPr>
            <a:r>
              <a:rPr lang="en-US" sz="180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5. </a:t>
            </a: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回溯机制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可要求回到任意上游阶段重新处理</a:t>
            </a:r>
            <a:endParaRPr lang="en-US" sz="1800" dirty="0"/>
          </a:p>
        </p:txBody>
      </p:sp>
      <p:sp>
        <p:nvSpPr>
          <p:cNvPr id="75093578" name="Text 6"/>
          <p:cNvSpPr/>
          <p:nvPr/>
        </p:nvSpPr>
        <p:spPr bwMode="auto">
          <a:xfrm>
            <a:off x="8382000" y="4699000"/>
            <a:ext cx="736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defRPr/>
            </a:pPr>
            <a:r>
              <a:rPr lang="en-US" sz="2150">
                <a:solidFill>
                  <a:srgbClr val="999999"/>
                </a:solidFill>
                <a:latin typeface="华文中宋"/>
                <a:ea typeface="华文中宋"/>
                <a:cs typeface="华文中宋"/>
              </a:rPr>
              <a:t>[ 单图交互流程图 ]</a:t>
            </a:r>
            <a:endParaRPr lang="en-US" sz="2150"/>
          </a:p>
        </p:txBody>
      </p:sp>
      <p:pic>
        <p:nvPicPr>
          <p:cNvPr id="1335379438" name="Picture 8" descr="hitl_interaction_slide7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82000" y="1397000"/>
            <a:ext cx="7366000" cy="723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871709" name="Text 0"/>
          <p:cNvSpPr/>
          <p:nvPr/>
        </p:nvSpPr>
        <p:spPr bwMode="auto">
          <a:xfrm>
            <a:off x="508000" y="431799"/>
            <a:ext cx="7620000" cy="698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状态总览</a:t>
            </a:r>
            <a:endParaRPr lang="en-US" sz="3750" dirty="0"/>
          </a:p>
        </p:txBody>
      </p:sp>
      <p:graphicFrame>
        <p:nvGraphicFramePr>
          <p:cNvPr id="6594666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815862"/>
              </p:ext>
            </p:extLst>
          </p:nvPr>
        </p:nvGraphicFramePr>
        <p:xfrm>
          <a:off x="508000" y="1397000"/>
          <a:ext cx="7059863" cy="4624280"/>
        </p:xfrm>
        <a:graphic>
          <a:graphicData uri="http://schemas.openxmlformats.org/drawingml/2006/table">
            <a:tbl>
              <a:tblPr/>
              <a:tblGrid>
                <a:gridCol w="2117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模块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职责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状态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figure-classify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判断图片类型，过滤非速度模型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cv_detect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切面板、提颜色条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segment_engines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多种分割策略按需调用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visual_audit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硬拒审 + 语义评分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editor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napari 边界修正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post_process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多边形提取、SPECFEM 导出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8035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session_state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持久化每张图的生命周期</a:t>
                      </a:r>
                      <a:endParaRPr lang="en-US" sz="180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华文中宋"/>
                          <a:ea typeface="华文中宋"/>
                          <a:cs typeface="华文中宋"/>
                        </a:rPr>
                        <a:t>可用</a:t>
                      </a:r>
                      <a:endParaRPr lang="en-US" sz="1800" dirty="0">
                        <a:latin typeface="华文中宋"/>
                        <a:ea typeface="华文中宋"/>
                        <a:cs typeface="华文中宋"/>
                      </a:endParaRPr>
                    </a:p>
                  </a:txBody>
                  <a:tcPr marL="54864" marR="54864" marT="0" marB="0" anchor="ctr">
                    <a:lnL w="12700" algn="ctr">
                      <a:solidFill>
                        <a:srgbClr val="000000"/>
                      </a:solidFill>
                    </a:lnL>
                    <a:lnR w="12700" algn="ctr">
                      <a:solidFill>
                        <a:srgbClr val="000000"/>
                      </a:solidFill>
                    </a:lnR>
                    <a:lnT w="12700" algn="ctr">
                      <a:solidFill>
                        <a:srgbClr val="000000"/>
                      </a:solidFill>
                    </a:lnT>
                    <a:lnB w="12700" algn="ctr">
                      <a:solidFill>
                        <a:srgbClr val="00000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Picture 8" descr="best_overlay_ph01_comparison.png">
            <a:extLst>
              <a:ext uri="{FF2B5EF4-FFF2-40B4-BE49-F238E27FC236}">
                <a16:creationId xmlns:a16="http://schemas.microsoft.com/office/drawing/2014/main" id="{41DB8C2E-4409-2069-D533-B05F360F47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71000" y="781049"/>
            <a:ext cx="5424481" cy="3747175"/>
          </a:xfrm>
          <a:prstGeom prst="rect">
            <a:avLst/>
          </a:prstGeom>
        </p:spPr>
      </p:pic>
      <p:pic>
        <p:nvPicPr>
          <p:cNvPr id="3" name="Picture 4" descr="best_overlay_02_2d_velocity_c11b8db_edge_guided_comparison.png">
            <a:extLst>
              <a:ext uri="{FF2B5EF4-FFF2-40B4-BE49-F238E27FC236}">
                <a16:creationId xmlns:a16="http://schemas.microsoft.com/office/drawing/2014/main" id="{D0D050D9-F95C-22B2-8B6D-04ABF9CD1E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180820" y="6563751"/>
            <a:ext cx="7977592" cy="1778828"/>
          </a:xfrm>
          <a:prstGeom prst="rect">
            <a:avLst/>
          </a:prstGeom>
        </p:spPr>
      </p:pic>
      <p:sp>
        <p:nvSpPr>
          <p:cNvPr id="4" name="AutoShape 2" descr="Original Figure 3">
            <a:extLst>
              <a:ext uri="{FF2B5EF4-FFF2-40B4-BE49-F238E27FC236}">
                <a16:creationId xmlns:a16="http://schemas.microsoft.com/office/drawing/2014/main" id="{3CF043D1-DA7F-6575-2EA7-883B85E7A6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975600" y="441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BF14BA6-2ADD-439F-10EB-BFEB94F88289}"/>
              </a:ext>
            </a:extLst>
          </p:cNvPr>
          <p:cNvGrpSpPr/>
          <p:nvPr/>
        </p:nvGrpSpPr>
        <p:grpSpPr>
          <a:xfrm>
            <a:off x="8277073" y="4950254"/>
            <a:ext cx="7785085" cy="1387642"/>
            <a:chOff x="7236911" y="7596648"/>
            <a:chExt cx="7207082" cy="1060897"/>
          </a:xfrm>
        </p:grpSpPr>
        <p:pic>
          <p:nvPicPr>
            <p:cNvPr id="1028" name="Picture 4" descr="Original Figure 3">
              <a:extLst>
                <a:ext uri="{FF2B5EF4-FFF2-40B4-BE49-F238E27FC236}">
                  <a16:creationId xmlns:a16="http://schemas.microsoft.com/office/drawing/2014/main" id="{D89D6237-440C-710A-6035-F64A346B4A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911" y="7596648"/>
              <a:ext cx="3603541" cy="1060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Refined Segmentation 3">
              <a:extLst>
                <a:ext uri="{FF2B5EF4-FFF2-40B4-BE49-F238E27FC236}">
                  <a16:creationId xmlns:a16="http://schemas.microsoft.com/office/drawing/2014/main" id="{665C6711-6D11-3F30-67DA-774083905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40452" y="7596648"/>
              <a:ext cx="3603541" cy="1060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A2F16DF-6830-AB5D-CAB3-91C94C685373}"/>
              </a:ext>
            </a:extLst>
          </p:cNvPr>
          <p:cNvGrpSpPr/>
          <p:nvPr/>
        </p:nvGrpSpPr>
        <p:grpSpPr>
          <a:xfrm>
            <a:off x="1" y="6563751"/>
            <a:ext cx="8280400" cy="1942575"/>
            <a:chOff x="4896270" y="7349233"/>
            <a:chExt cx="9288402" cy="1794767"/>
          </a:xfrm>
        </p:grpSpPr>
        <p:pic>
          <p:nvPicPr>
            <p:cNvPr id="1032" name="Picture 8" descr="Original Figure 2">
              <a:extLst>
                <a:ext uri="{FF2B5EF4-FFF2-40B4-BE49-F238E27FC236}">
                  <a16:creationId xmlns:a16="http://schemas.microsoft.com/office/drawing/2014/main" id="{24FF5D63-5402-97B2-2D02-34939A344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270" y="7349233"/>
              <a:ext cx="4821236" cy="17947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Refined Segmentation 2">
              <a:extLst>
                <a:ext uri="{FF2B5EF4-FFF2-40B4-BE49-F238E27FC236}">
                  <a16:creationId xmlns:a16="http://schemas.microsoft.com/office/drawing/2014/main" id="{ABFF7F11-870D-6349-80A1-D129D8B87B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69835" y="7349233"/>
              <a:ext cx="4414837" cy="16434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443427" name="Text 0"/>
          <p:cNvSpPr/>
          <p:nvPr/>
        </p:nvSpPr>
        <p:spPr bwMode="auto">
          <a:xfrm>
            <a:off x="8268368" y="584199"/>
            <a:ext cx="8890000" cy="698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预处理与分割策略</a:t>
            </a:r>
            <a:endParaRPr lang="en-US" sz="3750" dirty="0"/>
          </a:p>
        </p:txBody>
      </p:sp>
      <p:sp>
        <p:nvSpPr>
          <p:cNvPr id="1419208546" name="Text 1"/>
          <p:cNvSpPr/>
          <p:nvPr/>
        </p:nvSpPr>
        <p:spPr bwMode="auto">
          <a:xfrm>
            <a:off x="508000" y="1721852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预处理演进</a:t>
            </a:r>
            <a:endParaRPr lang="en-US" sz="3200" dirty="0"/>
          </a:p>
        </p:txBody>
      </p:sp>
      <p:sp>
        <p:nvSpPr>
          <p:cNvPr id="1560871985" name="Text 2"/>
          <p:cNvSpPr/>
          <p:nvPr/>
        </p:nvSpPr>
        <p:spPr bwMode="auto">
          <a:xfrm>
            <a:off x="508000" y="2492538"/>
            <a:ext cx="736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问题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：早期高斯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/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自适应模糊把薄层边界糊掉，反而更容易碎片化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收敛方案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</a:t>
            </a:r>
            <a:r>
              <a:rPr lang="en-US" dirty="0" err="1">
                <a:latin typeface="华文中宋"/>
                <a:ea typeface="华文中宋"/>
              </a:rPr>
              <a:t>行方向中值滤波（row</a:t>
            </a:r>
            <a:r>
              <a:rPr lang="en-US" dirty="0">
                <a:latin typeface="华文中宋"/>
                <a:ea typeface="华文中宋"/>
              </a:rPr>
              <a:t> median）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只沿水平方向去噪，能压住扫描噪声和文本，但几乎不损伤水平层边界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</p:txBody>
      </p:sp>
      <p:sp>
        <p:nvSpPr>
          <p:cNvPr id="1039222061" name="Text 3"/>
          <p:cNvSpPr/>
          <p:nvPr/>
        </p:nvSpPr>
        <p:spPr bwMode="auto">
          <a:xfrm>
            <a:off x="508000" y="5102735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分割策略演进</a:t>
            </a:r>
            <a:endParaRPr lang="en-US" sz="3200" dirty="0"/>
          </a:p>
        </p:txBody>
      </p:sp>
      <p:sp>
        <p:nvSpPr>
          <p:cNvPr id="1405260902" name="Text 4"/>
          <p:cNvSpPr/>
          <p:nvPr/>
        </p:nvSpPr>
        <p:spPr bwMode="auto">
          <a:xfrm>
            <a:off x="621632" y="5905501"/>
            <a:ext cx="7252368" cy="2853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问题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：单一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K-means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在褪色、文本密集、</a:t>
            </a:r>
            <a:r>
              <a:rPr lang="en-US" sz="1800" dirty="0" err="1">
                <a:latin typeface="华文中宋"/>
                <a:ea typeface="华文中宋"/>
                <a:cs typeface="华文中宋"/>
              </a:rPr>
              <a:t>灰度图上容易</a:t>
            </a:r>
            <a:r>
              <a:rPr lang="en-US" sz="1800" dirty="0" err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欠分割或过度分割</a:t>
            </a:r>
            <a:r>
              <a:rPr lang="en-US" sz="180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>
              <a:solidFill>
                <a:srgbClr val="FF0000"/>
              </a:solidFill>
            </a:endParaRPr>
          </a:p>
          <a:p>
            <a:pPr algn="l">
              <a:lnSpc>
                <a:spcPct val="160000"/>
              </a:lnSpc>
              <a:spcBef>
                <a:spcPts val="400"/>
              </a:spcBef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收敛方案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</a:t>
            </a:r>
            <a:r>
              <a:rPr lang="en-US" dirty="0" err="1">
                <a:latin typeface="华文中宋"/>
                <a:ea typeface="华文中宋"/>
              </a:rPr>
              <a:t>Agent</a:t>
            </a:r>
            <a:r>
              <a:rPr lang="en-US" dirty="0">
                <a:latin typeface="华文中宋"/>
                <a:ea typeface="华文中宋"/>
              </a:rPr>
              <a:t> </a:t>
            </a:r>
            <a:r>
              <a:rPr lang="en-US" dirty="0" err="1">
                <a:latin typeface="华文中宋"/>
                <a:ea typeface="华文中宋"/>
              </a:rPr>
              <a:t>根据</a:t>
            </a:r>
            <a:r>
              <a:rPr lang="en-US" dirty="0" err="1">
                <a:solidFill>
                  <a:srgbClr val="FF0000"/>
                </a:solidFill>
                <a:latin typeface="华文中宋"/>
                <a:ea typeface="华文中宋"/>
              </a:rPr>
              <a:t>图面特征</a:t>
            </a:r>
            <a:r>
              <a:rPr lang="en-US" dirty="0" err="1">
                <a:latin typeface="华文中宋"/>
                <a:ea typeface="华文中宋"/>
              </a:rPr>
              <a:t>选择引擎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，允许失败后换引擎重试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  <a:defRPr/>
            </a:pP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专用策略：褪色图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pastel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路径；文本密集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SLIC +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K-means；灰度图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灰度专用引擎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r>
              <a:rPr lang="zh-CN" alt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且</a:t>
            </a:r>
            <a:r>
              <a:rPr lang="zh-CN" altLang="en-US" sz="180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允许过度分割</a:t>
            </a:r>
            <a:r>
              <a:rPr lang="zh-CN" alt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的情况，实验证明，通过</a:t>
            </a:r>
            <a:r>
              <a:rPr lang="en-US" altLang="zh-CN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agent</a:t>
            </a:r>
            <a:r>
              <a:rPr lang="zh-CN" altLang="en-US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进行后处理（对过度分割的区域进行合并）效果极佳</a:t>
            </a:r>
            <a:endParaRPr lang="en-US" sz="18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C72BEC5-2B79-B47F-5A72-E2AEDC01441C}"/>
              </a:ext>
            </a:extLst>
          </p:cNvPr>
          <p:cNvSpPr/>
          <p:nvPr/>
        </p:nvSpPr>
        <p:spPr bwMode="auto">
          <a:xfrm>
            <a:off x="8268368" y="1721852"/>
            <a:ext cx="7366000" cy="571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后处理：地平线精炼</a:t>
            </a:r>
            <a:endParaRPr lang="en-US" sz="3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5C6777C-E99D-6660-AA51-0B4DC54C427B}"/>
              </a:ext>
            </a:extLst>
          </p:cNvPr>
          <p:cNvSpPr/>
          <p:nvPr/>
        </p:nvSpPr>
        <p:spPr bwMode="auto">
          <a:xfrm>
            <a:off x="8268368" y="2492538"/>
            <a:ext cx="7366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问题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：自动分割边界常有锯齿或垂直条纹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方案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</a:t>
            </a:r>
            <a:r>
              <a:rPr lang="en-US" dirty="0" err="1">
                <a:latin typeface="华文中宋"/>
                <a:ea typeface="华文中宋"/>
              </a:rPr>
              <a:t>horizon_refinement</a:t>
            </a:r>
            <a:r>
              <a:rPr lang="en-US" dirty="0">
                <a:latin typeface="华文中宋"/>
                <a:ea typeface="华文中宋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只在已识别边界区域做局部平滑，保持层数和连通性不变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400"/>
              </a:spcBef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经验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：后处理必须尊重「层数和拓扑结构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」，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只修边界形状，不修分区关系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C20A909-B70B-0D6F-E53E-FB12C2658DA3}"/>
              </a:ext>
            </a:extLst>
          </p:cNvPr>
          <p:cNvSpPr/>
          <p:nvPr/>
        </p:nvSpPr>
        <p:spPr bwMode="auto">
          <a:xfrm>
            <a:off x="8268368" y="5102735"/>
            <a:ext cx="7366000" cy="5080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2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区域融合策略</a:t>
            </a:r>
            <a:endParaRPr lang="en-US" sz="32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C3E33FD-5877-1A73-D596-496D60AEDF71}"/>
              </a:ext>
            </a:extLst>
          </p:cNvPr>
          <p:cNvSpPr/>
          <p:nvPr/>
        </p:nvSpPr>
        <p:spPr bwMode="auto">
          <a:xfrm>
            <a:off x="8268368" y="5905501"/>
            <a:ext cx="736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问题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：整张图重跑分割很慢，且常把好区域改坏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400"/>
              </a:spcBef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方案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</a:t>
            </a:r>
            <a:r>
              <a:rPr lang="en-US" sz="1800" dirty="0" err="1">
                <a:latin typeface="华文中宋"/>
                <a:ea typeface="华文中宋"/>
                <a:cs typeface="华文中宋"/>
              </a:rPr>
              <a:t>regional_fusion</a:t>
            </a:r>
            <a:r>
              <a:rPr lang="en-US" sz="1800" dirty="0">
                <a:latin typeface="华文中宋"/>
                <a:ea typeface="华文中宋"/>
                <a:cs typeface="华文中宋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— 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评估每个区域边界质量，</a:t>
            </a:r>
            <a:r>
              <a:rPr lang="en-US" sz="1800" dirty="0" err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好区域冻结，只让</a:t>
            </a:r>
            <a:r>
              <a:rPr lang="en-US" sz="180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 Agent </a:t>
            </a:r>
            <a:r>
              <a:rPr lang="en-US" sz="1800" dirty="0" err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重审差区域</a:t>
            </a:r>
            <a:r>
              <a:rPr lang="en-US" sz="180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>
              <a:solidFill>
                <a:srgbClr val="FF0000"/>
              </a:solidFill>
            </a:endParaRPr>
          </a:p>
          <a:p>
            <a:pPr algn="l">
              <a:lnSpc>
                <a:spcPct val="160000"/>
              </a:lnSpc>
              <a:spcBef>
                <a:spcPts val="400"/>
              </a:spcBef>
              <a:defRPr/>
            </a:pPr>
            <a:r>
              <a:rPr lang="en-US" sz="180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经验</a:t>
            </a:r>
            <a:r>
              <a:rPr lang="en-US" sz="180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：分割质量提升应局部化，避免为修一个小问题而破坏全局</a:t>
            </a:r>
            <a:r>
              <a:rPr lang="en-US" sz="180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18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64F6B16-5C8E-10A0-1BBD-EE0CFE5F3AA2}"/>
              </a:ext>
            </a:extLst>
          </p:cNvPr>
          <p:cNvSpPr/>
          <p:nvPr/>
        </p:nvSpPr>
        <p:spPr bwMode="auto">
          <a:xfrm>
            <a:off x="660400" y="584199"/>
            <a:ext cx="4104105" cy="698500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后处理与区域融合</a:t>
            </a:r>
            <a:endParaRPr lang="en-US" sz="37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790146" name="Text 0"/>
          <p:cNvSpPr/>
          <p:nvPr/>
        </p:nvSpPr>
        <p:spPr bwMode="auto">
          <a:xfrm>
            <a:off x="507999" y="431799"/>
            <a:ext cx="5283271" cy="711459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重点例子</a:t>
            </a:r>
            <a:r>
              <a:rPr lang="zh-Han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-</a:t>
            </a: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3D Schematic </a:t>
            </a:r>
            <a:endParaRPr lang="en-US" sz="3750"/>
          </a:p>
        </p:txBody>
      </p:sp>
      <p:sp>
        <p:nvSpPr>
          <p:cNvPr id="602327604" name="Text 2"/>
          <p:cNvSpPr/>
          <p:nvPr/>
        </p:nvSpPr>
        <p:spPr bwMode="auto">
          <a:xfrm>
            <a:off x="457199" y="1559978"/>
            <a:ext cx="15272174" cy="65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1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整体分割难点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：图像中包含</a:t>
            </a:r>
            <a:r>
              <a:rPr lang="en-US" sz="2150" dirty="0" err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文字</a:t>
            </a:r>
            <a:r>
              <a:rPr lang="zh-Han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、引导线</a:t>
            </a:r>
            <a:r>
              <a:rPr lang="zh-Han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等噪声，美术风格中同时存在</a:t>
            </a:r>
            <a:r>
              <a:rPr lang="zh-Han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纯色、渐变</a:t>
            </a:r>
            <a:r>
              <a:rPr lang="zh-Han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两种，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</a:rPr>
              <a:t>weakzone</a:t>
            </a:r>
            <a:r>
              <a:rPr lang="en-US" sz="2150" dirty="0">
                <a:solidFill>
                  <a:srgbClr val="000000"/>
                </a:solidFill>
                <a:latin typeface="华文中宋"/>
                <a:ea typeface="华文中宋"/>
              </a:rPr>
              <a:t> 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</a:rPr>
              <a:t>区域的</a:t>
            </a:r>
            <a:r>
              <a:rPr lang="en-US" sz="2150" dirty="0" err="1">
                <a:solidFill>
                  <a:srgbClr val="FF0000"/>
                </a:solidFill>
                <a:latin typeface="华文中宋"/>
                <a:ea typeface="华文中宋"/>
              </a:rPr>
              <a:t>小碎块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</a:rPr>
              <a:t>干扰识别引擎</a:t>
            </a:r>
            <a:endParaRPr lang="en-US" sz="215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1308737852" name="Text 3"/>
          <p:cNvSpPr/>
          <p:nvPr/>
        </p:nvSpPr>
        <p:spPr bwMode="auto">
          <a:xfrm>
            <a:off x="507999" y="2528093"/>
            <a:ext cx="7232281" cy="181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2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试错路径</a:t>
            </a:r>
            <a:r>
              <a:rPr lang="en-US" sz="22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</a:t>
            </a:r>
            <a:endParaRPr sz="2000"/>
          </a:p>
          <a:p>
            <a:pPr algn="l">
              <a:lnSpc>
                <a:spcPct val="16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边缘引导分割</a:t>
            </a:r>
            <a:r>
              <a:rPr lang="en-U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（edge_guided）→ 参数过强时灾难性碎片，参数弱时抓不住羽流</a:t>
            </a:r>
            <a:r>
              <a:rPr lang="zh-Hans" sz="2000"/>
              <a:t>（后续实验表明完全可通过</a:t>
            </a:r>
            <a:r>
              <a:rPr lang="zh-Hans" sz="2000">
                <a:solidFill>
                  <a:srgbClr val="FF0000"/>
                </a:solidFill>
              </a:rPr>
              <a:t>强参数+后处理agent 视觉审计合并过度分割区域</a:t>
            </a:r>
            <a:r>
              <a:rPr lang="zh-Hans" sz="2000"/>
              <a:t>来达到良好效果）</a:t>
            </a:r>
            <a:endParaRPr sz="2000"/>
          </a:p>
        </p:txBody>
      </p:sp>
      <p:pic>
        <p:nvPicPr>
          <p:cNvPr id="1293488889" name="图片 129348888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99214" y="3163353"/>
            <a:ext cx="7325780" cy="3885145"/>
          </a:xfrm>
          <a:prstGeom prst="rect">
            <a:avLst/>
          </a:prstGeom>
        </p:spPr>
      </p:pic>
      <p:sp>
        <p:nvSpPr>
          <p:cNvPr id="1459039238" name="Text 3"/>
          <p:cNvSpPr/>
          <p:nvPr/>
        </p:nvSpPr>
        <p:spPr bwMode="auto">
          <a:xfrm>
            <a:off x="518318" y="4571999"/>
            <a:ext cx="7221962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形状状结构检测</a:t>
            </a:r>
            <a:r>
              <a:rPr lang="en-U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（tubular_structure）→ 能抓到漏斗形结构，但假阳性太多</a:t>
            </a:r>
            <a:r>
              <a:rPr lang="zh-Han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（泛化能力差，且效果也差，已废弃）</a:t>
            </a:r>
            <a:endParaRPr sz="2000"/>
          </a:p>
          <a:p>
            <a:pPr algn="l">
              <a:lnSpc>
                <a:spcPct val="160000"/>
              </a:lnSpc>
              <a:defRPr/>
            </a:pPr>
            <a:endParaRPr sz="2000"/>
          </a:p>
        </p:txBody>
      </p:sp>
      <p:sp>
        <p:nvSpPr>
          <p:cNvPr id="349206497" name="Text 3"/>
          <p:cNvSpPr/>
          <p:nvPr/>
        </p:nvSpPr>
        <p:spPr bwMode="auto">
          <a:xfrm>
            <a:off x="518318" y="5792917"/>
            <a:ext cx="7221962" cy="1327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• </a:t>
            </a:r>
            <a:r>
              <a:rPr lang="en-US" sz="200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区域融合 + 文本修复</a:t>
            </a:r>
            <a:r>
              <a:rPr lang="en-U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 → 对 Panel 1/2 有改善，Panel 3 仍不达标</a:t>
            </a:r>
            <a:r>
              <a:rPr lang="zh-Han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（text remove 会在背景上引入</a:t>
            </a:r>
            <a:r>
              <a:rPr lang="zh-Hans" sz="200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额外噪声</a:t>
            </a:r>
            <a:r>
              <a:rPr lang="zh-Han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，在</a:t>
            </a:r>
            <a:r>
              <a:rPr lang="zh-Hans" sz="200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渐变背景</a:t>
            </a:r>
            <a:r>
              <a:rPr lang="zh-Hans" sz="200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下极其明显，已废弃）</a:t>
            </a:r>
            <a:endParaRPr sz="2000"/>
          </a:p>
        </p:txBody>
      </p:sp>
      <p:sp>
        <p:nvSpPr>
          <p:cNvPr id="960942934" name="文本框 960942933"/>
          <p:cNvSpPr txBox="1"/>
          <p:nvPr/>
        </p:nvSpPr>
        <p:spPr bwMode="auto">
          <a:xfrm>
            <a:off x="10354053" y="7198814"/>
            <a:ext cx="32164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sz="1400"/>
              <a:t>原始图像</a:t>
            </a:r>
            <a:endParaRPr/>
          </a:p>
        </p:txBody>
      </p:sp>
      <p:cxnSp>
        <p:nvCxnSpPr>
          <p:cNvPr id="1350869909" name="直接连接符 1350869908"/>
          <p:cNvCxnSpPr/>
          <p:nvPr/>
        </p:nvCxnSpPr>
        <p:spPr bwMode="auto">
          <a:xfrm>
            <a:off x="4013624" y="1845468"/>
            <a:ext cx="4274343" cy="2369343"/>
          </a:xfrm>
          <a:prstGeom prst="line">
            <a:avLst/>
          </a:prstGeom>
          <a:ln>
            <a:solidFill>
              <a:srgbClr val="FF0000"/>
            </a:solidFill>
            <a:tailEnd type="arrow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5002571" name="直接连接符 375002570"/>
          <p:cNvCxnSpPr>
            <a:cxnSpLocks/>
          </p:cNvCxnSpPr>
          <p:nvPr/>
        </p:nvCxnSpPr>
        <p:spPr bwMode="auto">
          <a:xfrm>
            <a:off x="5204249" y="1809749"/>
            <a:ext cx="3750468" cy="3296176"/>
          </a:xfrm>
          <a:prstGeom prst="line">
            <a:avLst/>
          </a:prstGeom>
          <a:ln>
            <a:solidFill>
              <a:srgbClr val="FF0000"/>
            </a:solidFill>
            <a:tailEnd type="arrow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17110772" name="直接连接符 1017110771"/>
          <p:cNvCxnSpPr/>
          <p:nvPr/>
        </p:nvCxnSpPr>
        <p:spPr bwMode="auto">
          <a:xfrm>
            <a:off x="9240468" y="1869280"/>
            <a:ext cx="2035968" cy="3226593"/>
          </a:xfrm>
          <a:prstGeom prst="line">
            <a:avLst/>
          </a:prstGeom>
          <a:ln>
            <a:solidFill>
              <a:srgbClr val="FF0000"/>
            </a:solidFill>
            <a:tailEnd type="arrow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4643284" name="直接连接符 1084643283"/>
          <p:cNvCxnSpPr/>
          <p:nvPr/>
        </p:nvCxnSpPr>
        <p:spPr bwMode="auto">
          <a:xfrm>
            <a:off x="10038187" y="1916906"/>
            <a:ext cx="1095374" cy="2619374"/>
          </a:xfrm>
          <a:prstGeom prst="line">
            <a:avLst/>
          </a:prstGeom>
          <a:ln>
            <a:solidFill>
              <a:srgbClr val="FF0000"/>
            </a:solidFill>
            <a:tailEnd type="arrow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22758042" name="直接连接符 822758041"/>
          <p:cNvCxnSpPr/>
          <p:nvPr/>
        </p:nvCxnSpPr>
        <p:spPr bwMode="auto">
          <a:xfrm flipH="1">
            <a:off x="12330140" y="1916906"/>
            <a:ext cx="1178718" cy="3476624"/>
          </a:xfrm>
          <a:prstGeom prst="line">
            <a:avLst/>
          </a:prstGeom>
          <a:ln>
            <a:solidFill>
              <a:srgbClr val="FF0000"/>
            </a:solidFill>
            <a:tailEnd type="arrow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6297419" name="直接连接符 336297418"/>
          <p:cNvCxnSpPr/>
          <p:nvPr/>
        </p:nvCxnSpPr>
        <p:spPr bwMode="auto">
          <a:xfrm>
            <a:off x="13586249" y="1809749"/>
            <a:ext cx="357187" cy="4036218"/>
          </a:xfrm>
          <a:prstGeom prst="line">
            <a:avLst/>
          </a:prstGeom>
          <a:ln>
            <a:solidFill>
              <a:srgbClr val="FF0000"/>
            </a:solidFill>
            <a:tailEnd type="arrow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 name="Slide 1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14332" name="Text 0"/>
          <p:cNvSpPr/>
          <p:nvPr/>
        </p:nvSpPr>
        <p:spPr bwMode="auto">
          <a:xfrm>
            <a:off x="507999" y="431798"/>
            <a:ext cx="5283270" cy="711459"/>
          </a:xfrm>
          <a:prstGeom prst="rect">
            <a:avLst/>
          </a:prstGeom>
          <a:noFill/>
          <a:ln/>
          <a:effectLst>
            <a:outerShdw blurRad="38100" dist="13462" dir="2700000" algn="bl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  <a:defRPr/>
            </a:pP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重点例子</a:t>
            </a:r>
            <a:r>
              <a:rPr lang="zh-Han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-</a:t>
            </a:r>
            <a:r>
              <a:rPr lang="en-US" sz="3750" b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3D Schematic </a:t>
            </a:r>
            <a:endParaRPr lang="en-US" sz="3750"/>
          </a:p>
        </p:txBody>
      </p:sp>
      <p:sp>
        <p:nvSpPr>
          <p:cNvPr id="1707990888" name="Text 2"/>
          <p:cNvSpPr/>
          <p:nvPr/>
        </p:nvSpPr>
        <p:spPr bwMode="auto">
          <a:xfrm>
            <a:off x="457198" y="1559977"/>
            <a:ext cx="15556834" cy="654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sz="2150" b="1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整体分割难点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：图像中包含</a:t>
            </a:r>
            <a:r>
              <a:rPr lang="en-US" sz="2150" dirty="0" err="1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文字</a:t>
            </a:r>
            <a:r>
              <a:rPr lang="zh-Han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、引导线</a:t>
            </a:r>
            <a:r>
              <a:rPr lang="zh-Han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等噪声，美术风格中同时存在</a:t>
            </a:r>
            <a:r>
              <a:rPr lang="zh-Han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纯色、渐变</a:t>
            </a:r>
            <a:r>
              <a:rPr lang="zh-Han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两种，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</a:rPr>
              <a:t>weakzone</a:t>
            </a:r>
            <a:r>
              <a:rPr lang="en-US" sz="2150" dirty="0">
                <a:solidFill>
                  <a:srgbClr val="000000"/>
                </a:solidFill>
                <a:latin typeface="华文中宋"/>
                <a:ea typeface="华文中宋"/>
              </a:rPr>
              <a:t> 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</a:rPr>
              <a:t>区域的</a:t>
            </a:r>
            <a:r>
              <a:rPr lang="en-US" sz="2150" dirty="0" err="1">
                <a:solidFill>
                  <a:srgbClr val="FF0000"/>
                </a:solidFill>
                <a:latin typeface="华文中宋"/>
                <a:ea typeface="华文中宋"/>
              </a:rPr>
              <a:t>小碎块</a:t>
            </a:r>
            <a:r>
              <a:rPr lang="en-US" sz="2150" dirty="0" err="1">
                <a:solidFill>
                  <a:srgbClr val="000000"/>
                </a:solidFill>
                <a:latin typeface="华文中宋"/>
                <a:ea typeface="华文中宋"/>
              </a:rPr>
              <a:t>干扰识别引擎</a:t>
            </a:r>
            <a:endParaRPr lang="en-US" sz="215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pic>
        <p:nvPicPr>
          <p:cNvPr id="1202453443" name="Picture 6" descr="3d_schematic_panel_2_original_vs_sandbox_workflow_v5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91270" y="3951044"/>
            <a:ext cx="4621112" cy="4748818"/>
          </a:xfrm>
          <a:prstGeom prst="rect">
            <a:avLst/>
          </a:prstGeom>
        </p:spPr>
      </p:pic>
      <p:pic>
        <p:nvPicPr>
          <p:cNvPr id="1633780767" name="图片 163378076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901018" y="3951043"/>
            <a:ext cx="4522682" cy="4748817"/>
          </a:xfrm>
          <a:prstGeom prst="rect">
            <a:avLst/>
          </a:prstGeom>
        </p:spPr>
      </p:pic>
      <p:pic>
        <p:nvPicPr>
          <p:cNvPr id="207326555" name="图片 20732655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49251" y="3951044"/>
            <a:ext cx="4534437" cy="4761158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9D63A956-28E5-F0B3-0BDB-4B177B0E7379}"/>
              </a:ext>
            </a:extLst>
          </p:cNvPr>
          <p:cNvSpPr/>
          <p:nvPr/>
        </p:nvSpPr>
        <p:spPr bwMode="auto">
          <a:xfrm>
            <a:off x="10492872" y="2214559"/>
            <a:ext cx="5763128" cy="1638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defRPr/>
            </a:pPr>
            <a:r>
              <a:rPr lang="en-US" altLang="zh-CN" sz="215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panel3</a:t>
            </a:r>
            <a:r>
              <a:rPr lang="en-US" sz="2150" b="1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分割难点</a:t>
            </a:r>
            <a:r>
              <a:rPr 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：</a:t>
            </a:r>
            <a:r>
              <a:rPr lang="zh-CN" alt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文字跨越区块。漏斗形结构颜色与渐变背景颜色部分</a:t>
            </a:r>
            <a:r>
              <a:rPr lang="zh-CN" altLang="en-U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重合</a:t>
            </a:r>
            <a:r>
              <a:rPr lang="zh-CN" altLang="en-US" sz="2150" dirty="0">
                <a:latin typeface="华文中宋"/>
                <a:ea typeface="华文中宋"/>
                <a:cs typeface="华文中宋"/>
              </a:rPr>
              <a:t>（导致</a:t>
            </a:r>
            <a:r>
              <a:rPr lang="zh-CN" altLang="en-US" sz="2150" dirty="0">
                <a:solidFill>
                  <a:srgbClr val="FF0000"/>
                </a:solidFill>
                <a:latin typeface="华文中宋"/>
                <a:ea typeface="华文中宋"/>
                <a:cs typeface="华文中宋"/>
              </a:rPr>
              <a:t>基于颜色</a:t>
            </a:r>
            <a:r>
              <a:rPr lang="zh-CN" altLang="en-US" sz="2150" dirty="0">
                <a:latin typeface="华文中宋"/>
                <a:ea typeface="华文中宋"/>
                <a:cs typeface="华文中宋"/>
              </a:rPr>
              <a:t>的分割引擎无法将下半部分完整分割）</a:t>
            </a:r>
            <a:r>
              <a:rPr lang="zh-CN" altLang="en-US" sz="2150" dirty="0">
                <a:solidFill>
                  <a:srgbClr val="000000"/>
                </a:solidFill>
                <a:latin typeface="华文中宋"/>
                <a:ea typeface="华文中宋"/>
                <a:cs typeface="华文中宋"/>
              </a:rPr>
              <a:t>。</a:t>
            </a:r>
            <a:endParaRPr lang="en-US" sz="215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DF49AA2-66E1-1EAE-F858-AD7CF556E956}"/>
              </a:ext>
            </a:extLst>
          </p:cNvPr>
          <p:cNvCxnSpPr/>
          <p:nvPr/>
        </p:nvCxnSpPr>
        <p:spPr>
          <a:xfrm>
            <a:off x="12873789" y="3284621"/>
            <a:ext cx="1239253" cy="31522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886422C-A110-EDFF-EBFE-E7BB2FAB9F73}"/>
              </a:ext>
            </a:extLst>
          </p:cNvPr>
          <p:cNvCxnSpPr/>
          <p:nvPr/>
        </p:nvCxnSpPr>
        <p:spPr>
          <a:xfrm>
            <a:off x="12789568" y="3200400"/>
            <a:ext cx="818148" cy="39222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660</Words>
  <Application>Microsoft Office PowerPoint</Application>
  <PresentationFormat>自定义</PresentationFormat>
  <Paragraphs>99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华文中宋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geoseg v2 项目状态总览</dc:title>
  <dc:subject>geoseg v2 项目状态总览</dc:subject>
  <dc:creator>Kimi</dc:creator>
  <cp:lastModifiedBy>sdasdsa dcssf</cp:lastModifiedBy>
  <cp:revision>5</cp:revision>
  <dcterms:created xsi:type="dcterms:W3CDTF">2026-06-19T08:47:16Z</dcterms:created>
  <dcterms:modified xsi:type="dcterms:W3CDTF">2026-06-21T17:12:13Z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{"Label":"geoseg v2 项目状态总览","ContentProducer":"001191110108MACG2KBH8F10000","ProduceID":"19edb759-44a2-8f55-8000-0000954364f5","ReservedCode1":"","ContentPropagator":"001191110108MACG2KBH8F20000","PropagateID":"19edb72f-6c42-80c2-8000-098ed2e75596","ReservedCode2":""}</vt:lpwstr>
  </property>
</Properties>
</file>