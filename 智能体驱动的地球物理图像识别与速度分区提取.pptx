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notesMasterIdLst>
    <p:notesMasterId r:id="rId12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本报告展示一种从前人地球物理图像资料中自动识别分区和界面，并面向 SEM 正演建模的技术流程。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大量解释结果以图像形式存在，目标是把图像资料转化为可用于 SEM 正演的速度分区模型。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Agent 负责图像理解、任务规划、算法选择和质量审查；图像算法执行检测、分割与边界提取；人只在关键节点确认。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这不是单个图像分割算法，而是由 Agent 把多步识别流程自动串联起来；人通过对话在关键节点介入。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算法不直接猜测地质解释，而是先把图像转化为可计算的 label map，再从中提取界面和区域。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输入为前人反演速度模型或速度结构图；系统从图像颜色和区域连续性中识别速度分区；即使没有原始数值模型，也可以获得可用于后续正演的结构近似。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概念模型图通常包含清晰的人为分区边界；通过颜色分割、区域掩膜和残差校正提取主要地质 / 速度单元；结果可作为 SEM 正演模型的初始分区框架。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图像存在几何变形、边界弯曲和局部区域形态变化；识别流程结合几何边界、颜色区域和后处理修正；展示方法对非标准图像形态的适应能力。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当前已实现从文献图到分区识别的关键环节；后续接入 SPECFEM，形成「文献图 → 分区模型 → SEM 正演」的闭环。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0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Relationship Id="rId3" Type="http://schemas.openxmlformats.org/officeDocument/2006/relationships/image" Target="../media/image5_2.png"/><Relationship Id="rId4" Type="http://schemas.openxmlformats.org/officeDocument/2006/relationships/image" Target="../media/image5_3.png"/><Relationship Id="rId5" Type="http://schemas.openxmlformats.org/officeDocument/2006/relationships/image" Target="../media/image5_4.png"/><Relationship Id="rId6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Relationship Id="rId3" Type="http://schemas.openxmlformats.org/officeDocument/2006/relationships/image" Target="../media/image7_2.png"/><Relationship Id="rId4" Type="http://schemas.openxmlformats.org/officeDocument/2006/relationships/image" Target="../media/image7_3.png"/><Relationship Id="rId5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blipFill>
          <a:blip r:embed="rId2"/>
          <a:srcRect t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ine"/>
          <p:cNvSpPr txBox="1"/>
          <p:nvPr/>
        </p:nvSpPr>
        <p:spPr>
          <a:xfrm>
            <a:off x="812800" y="13716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AI + GEOPHYSICS · TECHNICAL REPORT</a:t>
            </a:r>
            <a:endParaRPr lang="en-US" sz="1000"/>
          </a:p>
        </p:txBody>
      </p:sp>
      <p:sp>
        <p:nvSpPr>
          <p:cNvPr id="3" name="title"/>
          <p:cNvSpPr txBox="1"/>
          <p:nvPr/>
        </p:nvSpPr>
        <p:spPr>
          <a:xfrm>
            <a:off x="812800" y="1676400"/>
            <a:ext cx="812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3100" b="1">
                <a:solidFill>
                  <a:srgbClr val="F3F4F6"/>
                </a:solidFill>
                <a:latin typeface="MiSans"/>
                <a:ea typeface="MiSans"/>
              </a:rPr>
              <a:t>智能体驱动的地球物理图像识别</a:t>
            </a:r>
            <a:endParaRPr lang="en-US" sz="3100"/>
          </a:p>
          <a:p>
            <a:pPr algn="l">
              <a:lnSpc>
                <a:spcPct val="140000"/>
              </a:lnSpc>
            </a:pPr>
            <a:r>
              <a:rPr lang="en-US" sz="3100" b="1">
                <a:solidFill>
                  <a:srgbClr val="F3F4F6"/>
                </a:solidFill>
                <a:latin typeface="MiSans"/>
                <a:ea typeface="MiSans"/>
              </a:rPr>
              <a:t>与速度分区提取</a:t>
            </a:r>
            <a:endParaRPr lang="en-US" sz="3100"/>
          </a:p>
        </p:txBody>
      </p:sp>
      <p:sp>
        <p:nvSpPr>
          <p:cNvPr id="4" name="subtitle"/>
          <p:cNvSpPr txBox="1"/>
          <p:nvPr/>
        </p:nvSpPr>
        <p:spPr>
          <a:xfrm>
            <a:off x="812800" y="30226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9CA3AF"/>
                </a:solidFill>
                <a:latin typeface="MiSans"/>
                <a:ea typeface="MiSans"/>
              </a:rPr>
              <a:t>Agent-assisted Geological Model Extraction for SEM Forward Modeling</a:t>
            </a:r>
            <a:endParaRPr lang="en-US" sz="1250"/>
          </a:p>
        </p:txBody>
      </p:sp>
      <p:sp>
        <p:nvSpPr>
          <p:cNvPr id="5" name="kw-64"/>
          <p:cNvSpPr/>
          <p:nvPr/>
        </p:nvSpPr>
        <p:spPr>
          <a:xfrm>
            <a:off x="812800" y="3403600"/>
            <a:ext cx="838200" cy="355600"/>
          </a:xfrm>
          <a:prstGeom prst="roundRect">
            <a:avLst>
              <a:gd name="adj" fmla="val 50000"/>
            </a:avLst>
          </a:prstGeom>
          <a:solidFill>
            <a:srgbClr val="00B8D9">
              <a:alpha val="7843"/>
            </a:srgbClr>
          </a:solidFill>
          <a:ln w="12700">
            <a:solidFill>
              <a:srgbClr val="00B8D9">
                <a:alpha val="53333"/>
              </a:srgbClr>
            </a:solidFill>
          </a:ln>
        </p:spPr>
      </p:sp>
      <p:sp>
        <p:nvSpPr>
          <p:cNvPr id="6" name="kw-t-64"/>
          <p:cNvSpPr txBox="1"/>
          <p:nvPr/>
        </p:nvSpPr>
        <p:spPr>
          <a:xfrm>
            <a:off x="812800" y="3403600"/>
            <a:ext cx="838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50" b="1">
                <a:solidFill>
                  <a:srgbClr val="00B8D9"/>
                </a:solidFill>
                <a:latin typeface="MiSans"/>
                <a:ea typeface="MiSans"/>
              </a:rPr>
              <a:t>Agent</a:t>
            </a:r>
            <a:endParaRPr lang="en-US" sz="1150"/>
          </a:p>
        </p:txBody>
      </p:sp>
      <p:sp>
        <p:nvSpPr>
          <p:cNvPr id="7" name="kw-144.0"/>
          <p:cNvSpPr/>
          <p:nvPr/>
        </p:nvSpPr>
        <p:spPr>
          <a:xfrm>
            <a:off x="1828800" y="3403600"/>
            <a:ext cx="1930400" cy="355600"/>
          </a:xfrm>
          <a:prstGeom prst="roundRect">
            <a:avLst>
              <a:gd name="adj" fmla="val 50000"/>
            </a:avLst>
          </a:prstGeom>
          <a:solidFill>
            <a:srgbClr val="00B8D9">
              <a:alpha val="7843"/>
            </a:srgbClr>
          </a:solidFill>
          <a:ln w="12700">
            <a:solidFill>
              <a:srgbClr val="00B8D9">
                <a:alpha val="53333"/>
              </a:srgbClr>
            </a:solidFill>
          </a:ln>
        </p:spPr>
      </p:sp>
      <p:sp>
        <p:nvSpPr>
          <p:cNvPr id="8" name="kw-t-144.0"/>
          <p:cNvSpPr txBox="1"/>
          <p:nvPr/>
        </p:nvSpPr>
        <p:spPr>
          <a:xfrm>
            <a:off x="1828800" y="3403600"/>
            <a:ext cx="1930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50" b="1">
                <a:solidFill>
                  <a:srgbClr val="00B8D9"/>
                </a:solidFill>
                <a:latin typeface="MiSans"/>
                <a:ea typeface="MiSans"/>
              </a:rPr>
              <a:t>Image Recognition</a:t>
            </a:r>
            <a:endParaRPr lang="en-US" sz="1150"/>
          </a:p>
        </p:txBody>
      </p:sp>
      <p:sp>
        <p:nvSpPr>
          <p:cNvPr id="9" name="kw-310.4"/>
          <p:cNvSpPr/>
          <p:nvPr/>
        </p:nvSpPr>
        <p:spPr>
          <a:xfrm>
            <a:off x="3937000" y="3403600"/>
            <a:ext cx="1930400" cy="355600"/>
          </a:xfrm>
          <a:prstGeom prst="roundRect">
            <a:avLst>
              <a:gd name="adj" fmla="val 50000"/>
            </a:avLst>
          </a:prstGeom>
          <a:solidFill>
            <a:srgbClr val="00B8D9">
              <a:alpha val="7843"/>
            </a:srgbClr>
          </a:solidFill>
          <a:ln w="12700">
            <a:solidFill>
              <a:srgbClr val="00B8D9">
                <a:alpha val="53333"/>
              </a:srgbClr>
            </a:solidFill>
          </a:ln>
        </p:spPr>
      </p:sp>
      <p:sp>
        <p:nvSpPr>
          <p:cNvPr id="10" name="kw-t-310.4"/>
          <p:cNvSpPr txBox="1"/>
          <p:nvPr/>
        </p:nvSpPr>
        <p:spPr>
          <a:xfrm>
            <a:off x="3937000" y="3403600"/>
            <a:ext cx="1930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50" b="1">
                <a:solidFill>
                  <a:srgbClr val="00B8D9"/>
                </a:solidFill>
                <a:latin typeface="MiSans"/>
                <a:ea typeface="MiSans"/>
              </a:rPr>
              <a:t>Velocity Zonation</a:t>
            </a:r>
            <a:endParaRPr lang="en-US" sz="1150"/>
          </a:p>
        </p:txBody>
      </p:sp>
      <p:sp>
        <p:nvSpPr>
          <p:cNvPr id="11" name="kw-476.79999999999995"/>
          <p:cNvSpPr/>
          <p:nvPr/>
        </p:nvSpPr>
        <p:spPr>
          <a:xfrm>
            <a:off x="6057900" y="3403600"/>
            <a:ext cx="1473200" cy="355600"/>
          </a:xfrm>
          <a:prstGeom prst="roundRect">
            <a:avLst>
              <a:gd name="adj" fmla="val 50000"/>
            </a:avLst>
          </a:prstGeom>
          <a:solidFill>
            <a:srgbClr val="00B8D9">
              <a:alpha val="7843"/>
            </a:srgbClr>
          </a:solidFill>
          <a:ln w="12700">
            <a:solidFill>
              <a:srgbClr val="00B8D9">
                <a:alpha val="53333"/>
              </a:srgbClr>
            </a:solidFill>
          </a:ln>
        </p:spPr>
      </p:sp>
      <p:sp>
        <p:nvSpPr>
          <p:cNvPr id="12" name="kw-t-476.79999999999995"/>
          <p:cNvSpPr txBox="1"/>
          <p:nvPr/>
        </p:nvSpPr>
        <p:spPr>
          <a:xfrm>
            <a:off x="6057900" y="3403600"/>
            <a:ext cx="1473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50" b="1">
                <a:solidFill>
                  <a:srgbClr val="00B8D9"/>
                </a:solidFill>
                <a:latin typeface="MiSans"/>
                <a:ea typeface="MiSans"/>
              </a:rPr>
              <a:t>SEM Modeling</a:t>
            </a:r>
            <a:endParaRPr lang="en-US" sz="1150"/>
          </a:p>
        </p:txBody>
      </p:sp>
      <p:sp>
        <p:nvSpPr>
          <p:cNvPr id="13" name="byline"/>
          <p:cNvSpPr txBox="1"/>
          <p:nvPr/>
        </p:nvSpPr>
        <p:spPr>
          <a:xfrm>
            <a:off x="812800" y="4191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5B6B84"/>
                </a:solidFill>
                <a:latin typeface="MiSans"/>
                <a:ea typeface="MiSans"/>
              </a:rPr>
              <a:t>课题组技术汇报 · 2026 年 7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BACKGROUND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从文献图片到可计算速度模型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图像中包含速度结构、界面与分区，但缺少可直接计算的数值模型。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02 / 09</a:t>
            </a:r>
            <a:endParaRPr lang="en-US" sz="950"/>
          </a:p>
        </p:txBody>
      </p:sp>
      <p:sp>
        <p:nvSpPr>
          <p:cNvPr id="8" name="panelL"/>
          <p:cNvSpPr/>
          <p:nvPr/>
        </p:nvSpPr>
        <p:spPr>
          <a:xfrm>
            <a:off x="609600" y="1778000"/>
            <a:ext cx="4826000" cy="4089400"/>
          </a:xfrm>
          <a:prstGeom prst="roundRect">
            <a:avLst>
              <a:gd name="adj" fmla="val 6000"/>
            </a:avLst>
          </a:prstGeom>
          <a:solidFill>
            <a:srgbClr val="101B2C"/>
          </a:solidFill>
          <a:ln w="12700">
            <a:solidFill>
              <a:srgbClr val="22314A"/>
            </a:solidFill>
          </a:ln>
        </p:spPr>
      </p:sp>
      <p:sp>
        <p:nvSpPr>
          <p:cNvPr id="9" name="panelL-h"/>
          <p:cNvSpPr txBox="1"/>
          <p:nvPr/>
        </p:nvSpPr>
        <p:spPr>
          <a:xfrm>
            <a:off x="1066800" y="1981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00B8D9"/>
                </a:solidFill>
                <a:latin typeface="MiSans"/>
                <a:ea typeface="MiSans"/>
              </a:rPr>
              <a:t>已有资料 · 图像</a:t>
            </a:r>
            <a:endParaRPr lang="en-US" sz="1400"/>
          </a:p>
        </p:txBody>
      </p:sp>
      <p:sp>
        <p:nvSpPr>
          <p:cNvPr id="10" name="ir-84-176"/>
          <p:cNvSpPr/>
          <p:nvPr>
            <p:extLst>
              <p:ext uri="{F5677B7D-0D2A-4D9B-9A5C-6D8D7D0E5A5D}">
                <pptd:icon encoding="base64url">eyJpY29uTmFtZSI6ImZhczpmaWxlLXBkZiJ9</pptd:icon>
              </p:ext>
            </p:extLst>
          </p:nvPr>
        </p:nvSpPr>
        <p:spPr>
          <a:xfrm>
            <a:off x="1066800" y="223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176" y="512"/>
                </a:lnTo>
                <a:lnTo>
                  <a:pt x="176" y="400"/>
                </a:lnTo>
                <a:cubicBezTo>
                  <a:pt x="176" y="365"/>
                  <a:pt x="205" y="336"/>
                  <a:pt x="240" y="336"/>
                </a:cubicBezTo>
                <a:lnTo>
                  <a:pt x="416" y="336"/>
                </a:ln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240" y="380"/>
                </a:moveTo>
                <a:cubicBezTo>
                  <a:pt x="229" y="380"/>
                  <a:pt x="220" y="389"/>
                  <a:pt x="220" y="400"/>
                </a:cubicBezTo>
                <a:lnTo>
                  <a:pt x="220" y="528"/>
                </a:lnTo>
                <a:cubicBezTo>
                  <a:pt x="220" y="539"/>
                  <a:pt x="229" y="548"/>
                  <a:pt x="240" y="548"/>
                </a:cubicBezTo>
                <a:cubicBezTo>
                  <a:pt x="251" y="548"/>
                  <a:pt x="260" y="539"/>
                  <a:pt x="260" y="528"/>
                </a:cubicBezTo>
                <a:lnTo>
                  <a:pt x="260" y="500"/>
                </a:lnTo>
                <a:lnTo>
                  <a:pt x="272" y="500"/>
                </a:lnTo>
                <a:cubicBezTo>
                  <a:pt x="305" y="500"/>
                  <a:pt x="332" y="473"/>
                  <a:pt x="332" y="440"/>
                </a:cubicBezTo>
                <a:cubicBezTo>
                  <a:pt x="332" y="407"/>
                  <a:pt x="305" y="380"/>
                  <a:pt x="272" y="380"/>
                </a:cubicBezTo>
                <a:lnTo>
                  <a:pt x="240" y="380"/>
                </a:lnTo>
                <a:close/>
                <a:moveTo>
                  <a:pt x="272" y="460"/>
                </a:moveTo>
                <a:lnTo>
                  <a:pt x="260" y="460"/>
                </a:lnTo>
                <a:lnTo>
                  <a:pt x="260" y="420"/>
                </a:lnTo>
                <a:lnTo>
                  <a:pt x="272" y="420"/>
                </a:lnTo>
                <a:cubicBezTo>
                  <a:pt x="283" y="420"/>
                  <a:pt x="292" y="429"/>
                  <a:pt x="292" y="440"/>
                </a:cubicBezTo>
                <a:cubicBezTo>
                  <a:pt x="292" y="451"/>
                  <a:pt x="283" y="460"/>
                  <a:pt x="272" y="460"/>
                </a:cubicBezTo>
                <a:close/>
              </a:path>
              <a:path w="576" h="512">
                <a:moveTo>
                  <a:pt x="368" y="380"/>
                </a:moveTo>
                <a:cubicBezTo>
                  <a:pt x="357" y="380"/>
                  <a:pt x="348" y="389"/>
                  <a:pt x="348" y="400"/>
                </a:cubicBezTo>
                <a:lnTo>
                  <a:pt x="348" y="528"/>
                </a:lnTo>
                <a:cubicBezTo>
                  <a:pt x="348" y="539"/>
                  <a:pt x="357" y="548"/>
                  <a:pt x="368" y="548"/>
                </a:cubicBezTo>
                <a:lnTo>
                  <a:pt x="400" y="548"/>
                </a:lnTo>
                <a:cubicBezTo>
                  <a:pt x="429" y="548"/>
                  <a:pt x="452" y="525"/>
                  <a:pt x="452" y="496"/>
                </a:cubicBezTo>
                <a:lnTo>
                  <a:pt x="452" y="432"/>
                </a:lnTo>
                <a:cubicBezTo>
                  <a:pt x="452" y="403"/>
                  <a:pt x="429" y="380"/>
                  <a:pt x="400" y="380"/>
                </a:cubicBezTo>
                <a:lnTo>
                  <a:pt x="368" y="380"/>
                </a:lnTo>
                <a:close/>
                <a:moveTo>
                  <a:pt x="388" y="508"/>
                </a:moveTo>
                <a:lnTo>
                  <a:pt x="388" y="420"/>
                </a:lnTo>
                <a:lnTo>
                  <a:pt x="400" y="420"/>
                </a:lnTo>
                <a:cubicBezTo>
                  <a:pt x="407" y="420"/>
                  <a:pt x="412" y="425"/>
                  <a:pt x="412" y="432"/>
                </a:cubicBezTo>
                <a:lnTo>
                  <a:pt x="412" y="496"/>
                </a:lnTo>
                <a:cubicBezTo>
                  <a:pt x="412" y="503"/>
                  <a:pt x="407" y="508"/>
                  <a:pt x="400" y="508"/>
                </a:cubicBezTo>
                <a:lnTo>
                  <a:pt x="388" y="508"/>
                </a:lnTo>
                <a:close/>
              </a:path>
              <a:path w="576" h="512">
                <a:moveTo>
                  <a:pt x="476" y="400"/>
                </a:moveTo>
                <a:lnTo>
                  <a:pt x="476" y="528"/>
                </a:lnTo>
                <a:cubicBezTo>
                  <a:pt x="476" y="539"/>
                  <a:pt x="485" y="548"/>
                  <a:pt x="496" y="548"/>
                </a:cubicBezTo>
                <a:cubicBezTo>
                  <a:pt x="507" y="548"/>
                  <a:pt x="516" y="539"/>
                  <a:pt x="516" y="528"/>
                </a:cubicBezTo>
                <a:lnTo>
                  <a:pt x="516" y="484"/>
                </a:lnTo>
                <a:lnTo>
                  <a:pt x="544" y="484"/>
                </a:lnTo>
                <a:cubicBezTo>
                  <a:pt x="555" y="484"/>
                  <a:pt x="564" y="475"/>
                  <a:pt x="564" y="464"/>
                </a:cubicBezTo>
                <a:cubicBezTo>
                  <a:pt x="564" y="453"/>
                  <a:pt x="555" y="444"/>
                  <a:pt x="544" y="444"/>
                </a:cubicBezTo>
                <a:lnTo>
                  <a:pt x="516" y="444"/>
                </a:lnTo>
                <a:lnTo>
                  <a:pt x="516" y="420"/>
                </a:lnTo>
                <a:lnTo>
                  <a:pt x="544" y="420"/>
                </a:lnTo>
                <a:cubicBezTo>
                  <a:pt x="555" y="420"/>
                  <a:pt x="564" y="411"/>
                  <a:pt x="564" y="400"/>
                </a:cubicBezTo>
                <a:cubicBezTo>
                  <a:pt x="564" y="389"/>
                  <a:pt x="555" y="380"/>
                  <a:pt x="544" y="380"/>
                </a:cubicBezTo>
                <a:lnTo>
                  <a:pt x="496" y="380"/>
                </a:lnTo>
                <a:cubicBezTo>
                  <a:pt x="485" y="380"/>
                  <a:pt x="476" y="389"/>
                  <a:pt x="476" y="400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1" name="ir-t-84-176"/>
          <p:cNvSpPr txBox="1"/>
          <p:nvPr/>
        </p:nvSpPr>
        <p:spPr>
          <a:xfrm>
            <a:off x="1498600" y="2209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文献 PDF</a:t>
            </a:r>
            <a:endParaRPr lang="en-US" sz="1350"/>
          </a:p>
        </p:txBody>
      </p:sp>
      <p:sp>
        <p:nvSpPr>
          <p:cNvPr id="12" name="ir-d-84-176"/>
          <p:cNvSpPr txBox="1"/>
          <p:nvPr/>
        </p:nvSpPr>
        <p:spPr>
          <a:xfrm>
            <a:off x="1498600" y="2514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地球物理解释成果的主要载体</a:t>
            </a:r>
            <a:endParaRPr lang="en-US" sz="1050"/>
          </a:p>
        </p:txBody>
      </p:sp>
      <p:sp>
        <p:nvSpPr>
          <p:cNvPr id="13" name="ir-84-242"/>
          <p:cNvSpPr/>
          <p:nvPr>
            <p:extLst>
              <p:ext uri="{F5677B7D-0D2A-4D9B-9A5C-6D8D7D0E5A5D}">
                <pptd:icon encoding="base64url">eyJpY29uTmFtZSI6ImZhczppbWFnZSJ9</pptd:icon>
              </p:ext>
            </p:extLst>
          </p:nvPr>
        </p:nvSpPr>
        <p:spPr>
          <a:xfrm>
            <a:off x="1066800" y="307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4" name="ir-t-84-242"/>
          <p:cNvSpPr txBox="1"/>
          <p:nvPr/>
        </p:nvSpPr>
        <p:spPr>
          <a:xfrm>
            <a:off x="1498600" y="304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概念模型图</a:t>
            </a:r>
            <a:endParaRPr lang="en-US" sz="1350"/>
          </a:p>
        </p:txBody>
      </p:sp>
      <p:sp>
        <p:nvSpPr>
          <p:cNvPr id="15" name="ir-d-84-242"/>
          <p:cNvSpPr txBox="1"/>
          <p:nvPr/>
        </p:nvSpPr>
        <p:spPr>
          <a:xfrm>
            <a:off x="1498600" y="3352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人为划分的地质单元与界面</a:t>
            </a:r>
            <a:endParaRPr lang="en-US" sz="1050"/>
          </a:p>
        </p:txBody>
      </p:sp>
      <p:sp>
        <p:nvSpPr>
          <p:cNvPr id="16" name="ir-84-308"/>
          <p:cNvSpPr/>
          <p:nvPr>
            <p:extLst>
              <p:ext uri="{F5677B7D-0D2A-4D9B-9A5C-6D8D7D0E5A5D}">
                <pptd:icon encoding="base64url">eyJpY29uTmFtZSI6ImZhczpjaGFydC1hcmVhIn0</pptd:icon>
              </p:ext>
            </p:extLst>
          </p:nvPr>
        </p:nvSpPr>
        <p:spPr>
          <a:xfrm>
            <a:off x="1066800" y="391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50" y="32"/>
                  <a:pt x="64" y="46"/>
                  <a:pt x="64" y="64"/>
                </a:cubicBez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480" y="416"/>
                </a:lnTo>
                <a:cubicBezTo>
                  <a:pt x="498" y="416"/>
                  <a:pt x="512" y="430"/>
                  <a:pt x="512" y="448"/>
                </a:cubicBezTo>
                <a:cubicBezTo>
                  <a:pt x="512" y="466"/>
                  <a:pt x="498" y="480"/>
                  <a:pt x="480" y="480"/>
                </a:cubicBezTo>
                <a:lnTo>
                  <a:pt x="80" y="480"/>
                </a:lnTo>
                <a:cubicBezTo>
                  <a:pt x="36" y="480"/>
                  <a:pt x="0" y="444"/>
                  <a:pt x="0" y="40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close/>
                <a:moveTo>
                  <a:pt x="240" y="96"/>
                </a:moveTo>
                <a:cubicBezTo>
                  <a:pt x="247" y="96"/>
                  <a:pt x="253" y="99"/>
                  <a:pt x="258" y="104"/>
                </a:cubicBezTo>
                <a:lnTo>
                  <a:pt x="329" y="181"/>
                </a:lnTo>
                <a:lnTo>
                  <a:pt x="375" y="135"/>
                </a:lnTo>
                <a:cubicBezTo>
                  <a:pt x="384" y="126"/>
                  <a:pt x="400" y="126"/>
                  <a:pt x="409" y="135"/>
                </a:cubicBezTo>
                <a:lnTo>
                  <a:pt x="473" y="199"/>
                </a:lnTo>
                <a:cubicBezTo>
                  <a:pt x="477" y="204"/>
                  <a:pt x="480" y="210"/>
                  <a:pt x="480" y="216"/>
                </a:cubicBezTo>
                <a:lnTo>
                  <a:pt x="480" y="328"/>
                </a:lnTo>
                <a:cubicBezTo>
                  <a:pt x="480" y="341"/>
                  <a:pt x="469" y="352"/>
                  <a:pt x="456" y="352"/>
                </a:cubicBezTo>
                <a:lnTo>
                  <a:pt x="152" y="352"/>
                </a:lnTo>
                <a:cubicBezTo>
                  <a:pt x="139" y="352"/>
                  <a:pt x="128" y="341"/>
                  <a:pt x="128" y="328"/>
                </a:cubicBezTo>
                <a:lnTo>
                  <a:pt x="128" y="216"/>
                </a:lnTo>
                <a:cubicBezTo>
                  <a:pt x="128" y="210"/>
                  <a:pt x="130" y="204"/>
                  <a:pt x="134" y="200"/>
                </a:cubicBezTo>
                <a:lnTo>
                  <a:pt x="222" y="104"/>
                </a:lnTo>
                <a:cubicBezTo>
                  <a:pt x="227" y="99"/>
                  <a:pt x="233" y="96"/>
                  <a:pt x="240" y="96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7" name="ir-t-84-308"/>
          <p:cNvSpPr txBox="1"/>
          <p:nvPr/>
        </p:nvSpPr>
        <p:spPr>
          <a:xfrm>
            <a:off x="1498600" y="3886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反演速度图</a:t>
            </a:r>
            <a:endParaRPr lang="en-US" sz="1350"/>
          </a:p>
        </p:txBody>
      </p:sp>
      <p:sp>
        <p:nvSpPr>
          <p:cNvPr id="18" name="ir-d-84-308"/>
          <p:cNvSpPr txBox="1"/>
          <p:nvPr/>
        </p:nvSpPr>
        <p:spPr>
          <a:xfrm>
            <a:off x="1498600" y="419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颜色编码的速度结构与构造形态</a:t>
            </a:r>
            <a:endParaRPr lang="en-US" sz="1050"/>
          </a:p>
        </p:txBody>
      </p:sp>
      <p:sp>
        <p:nvSpPr>
          <p:cNvPr id="19" name="ir-84-374"/>
          <p:cNvSpPr/>
          <p:nvPr>
            <p:extLst>
              <p:ext uri="{F5677B7D-0D2A-4D9B-9A5C-6D8D7D0E5A5D}">
                <pptd:icon encoding="base64url">eyJpY29uTmFtZSI6ImZhczpwYWxldHRlIn0</pptd:icon>
              </p:ext>
            </p:extLst>
          </p:nvPr>
        </p:nvSpPr>
        <p:spPr>
          <a:xfrm>
            <a:off x="1066800" y="4749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20" name="ir-t-84-374"/>
          <p:cNvSpPr txBox="1"/>
          <p:nvPr/>
        </p:nvSpPr>
        <p:spPr>
          <a:xfrm>
            <a:off x="1498600" y="4724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颜色条 / 注释</a:t>
            </a:r>
            <a:endParaRPr lang="en-US" sz="1350"/>
          </a:p>
        </p:txBody>
      </p:sp>
      <p:sp>
        <p:nvSpPr>
          <p:cNvPr id="21" name="ir-d-84-374"/>
          <p:cNvSpPr txBox="1"/>
          <p:nvPr/>
        </p:nvSpPr>
        <p:spPr>
          <a:xfrm>
            <a:off x="1498600" y="5029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数值标定与图面约束信息</a:t>
            </a:r>
            <a:endParaRPr lang="en-US" sz="1050"/>
          </a:p>
        </p:txBody>
      </p:sp>
      <p:sp>
        <p:nvSpPr>
          <p:cNvPr id="22" name="panelR"/>
          <p:cNvSpPr/>
          <p:nvPr/>
        </p:nvSpPr>
        <p:spPr>
          <a:xfrm>
            <a:off x="6756400" y="1778000"/>
            <a:ext cx="4826000" cy="4089400"/>
          </a:xfrm>
          <a:prstGeom prst="roundRect">
            <a:avLst>
              <a:gd name="adj" fmla="val 6000"/>
            </a:avLst>
          </a:prstGeom>
          <a:solidFill>
            <a:srgbClr val="101B2C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23" name="panelR-h"/>
          <p:cNvSpPr txBox="1"/>
          <p:nvPr/>
        </p:nvSpPr>
        <p:spPr>
          <a:xfrm>
            <a:off x="7112000" y="1981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B000"/>
                </a:solidFill>
                <a:latin typeface="MiSans"/>
                <a:ea typeface="MiSans"/>
              </a:rPr>
              <a:t>目标输出 · 模型</a:t>
            </a:r>
            <a:endParaRPr lang="en-US" sz="1400"/>
          </a:p>
        </p:txBody>
      </p:sp>
      <p:sp>
        <p:nvSpPr>
          <p:cNvPr id="24" name="ir-560-176"/>
          <p:cNvSpPr/>
          <p:nvPr>
            <p:extLst>
              <p:ext uri="{F5677B7D-0D2A-4D9B-9A5C-6D8D7D0E5A5D}">
                <pptd:icon encoding="base64url">eyJpY29uTmFtZSI6ImZhczpkcmF3LXBvbHlnb24ifQ</pptd:icon>
              </p:ext>
            </p:extLst>
          </p:nvPr>
        </p:nvSpPr>
        <p:spPr>
          <a:xfrm>
            <a:off x="7112000" y="223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0"/>
                </a:moveTo>
                <a:cubicBezTo>
                  <a:pt x="88" y="0"/>
                  <a:pt x="108" y="13"/>
                  <a:pt x="119" y="32"/>
                </a:cubicBezTo>
                <a:lnTo>
                  <a:pt x="393" y="32"/>
                </a:lnTo>
                <a:cubicBezTo>
                  <a:pt x="404" y="13"/>
                  <a:pt x="424" y="0"/>
                  <a:pt x="448" y="0"/>
                </a:cubicBezTo>
                <a:cubicBezTo>
                  <a:pt x="483" y="0"/>
                  <a:pt x="512" y="29"/>
                  <a:pt x="512" y="64"/>
                </a:cubicBezTo>
                <a:cubicBezTo>
                  <a:pt x="512" y="98"/>
                  <a:pt x="485" y="126"/>
                  <a:pt x="452" y="128"/>
                </a:cubicBezTo>
                <a:lnTo>
                  <a:pt x="450" y="131"/>
                </a:lnTo>
                <a:lnTo>
                  <a:pt x="378" y="230"/>
                </a:lnTo>
                <a:cubicBezTo>
                  <a:pt x="382" y="238"/>
                  <a:pt x="384" y="247"/>
                  <a:pt x="384" y="256"/>
                </a:cubicBezTo>
                <a:cubicBezTo>
                  <a:pt x="384" y="265"/>
                  <a:pt x="382" y="274"/>
                  <a:pt x="378" y="282"/>
                </a:cubicBezTo>
                <a:lnTo>
                  <a:pt x="380" y="285"/>
                </a:lnTo>
                <a:lnTo>
                  <a:pt x="450" y="381"/>
                </a:lnTo>
                <a:lnTo>
                  <a:pt x="452" y="384"/>
                </a:lnTo>
                <a:cubicBezTo>
                  <a:pt x="485" y="386"/>
                  <a:pt x="512" y="414"/>
                  <a:pt x="512" y="448"/>
                </a:cubicBezTo>
                <a:cubicBezTo>
                  <a:pt x="512" y="484"/>
                  <a:pt x="483" y="512"/>
                  <a:pt x="448" y="512"/>
                </a:cubicBezTo>
                <a:cubicBezTo>
                  <a:pt x="424" y="512"/>
                  <a:pt x="404" y="499"/>
                  <a:pt x="393" y="480"/>
                </a:cubicBezTo>
                <a:lnTo>
                  <a:pt x="119" y="480"/>
                </a:lnTo>
                <a:cubicBezTo>
                  <a:pt x="108" y="499"/>
                  <a:pt x="88" y="512"/>
                  <a:pt x="64" y="512"/>
                </a:cubicBezTo>
                <a:cubicBezTo>
                  <a:pt x="29" y="512"/>
                  <a:pt x="0" y="484"/>
                  <a:pt x="0" y="448"/>
                </a:cubicBezTo>
                <a:cubicBezTo>
                  <a:pt x="0" y="425"/>
                  <a:pt x="13" y="404"/>
                  <a:pt x="32" y="393"/>
                </a:cubicBezTo>
                <a:lnTo>
                  <a:pt x="32" y="120"/>
                </a:lnTo>
                <a:cubicBezTo>
                  <a:pt x="13" y="108"/>
                  <a:pt x="0" y="88"/>
                  <a:pt x="0" y="64"/>
                </a:cubicBezTo>
                <a:cubicBezTo>
                  <a:pt x="0" y="29"/>
                  <a:pt x="29" y="0"/>
                  <a:pt x="64" y="0"/>
                </a:cubicBezTo>
                <a:close/>
                <a:moveTo>
                  <a:pt x="394" y="413"/>
                </a:moveTo>
                <a:lnTo>
                  <a:pt x="329" y="323"/>
                </a:lnTo>
                <a:lnTo>
                  <a:pt x="327" y="320"/>
                </a:lnTo>
                <a:cubicBezTo>
                  <a:pt x="324" y="320"/>
                  <a:pt x="322" y="320"/>
                  <a:pt x="320" y="320"/>
                </a:cubicBezTo>
                <a:cubicBezTo>
                  <a:pt x="285" y="320"/>
                  <a:pt x="256" y="291"/>
                  <a:pt x="256" y="256"/>
                </a:cubicBezTo>
                <a:cubicBezTo>
                  <a:pt x="256" y="221"/>
                  <a:pt x="285" y="192"/>
                  <a:pt x="320" y="192"/>
                </a:cubicBezTo>
                <a:cubicBezTo>
                  <a:pt x="322" y="192"/>
                  <a:pt x="324" y="192"/>
                  <a:pt x="327" y="192"/>
                </a:cubicBezTo>
                <a:lnTo>
                  <a:pt x="394" y="99"/>
                </a:lnTo>
                <a:cubicBezTo>
                  <a:pt x="394" y="98"/>
                  <a:pt x="393" y="97"/>
                  <a:pt x="393" y="96"/>
                </a:cubicBezTo>
                <a:lnTo>
                  <a:pt x="119" y="96"/>
                </a:lnTo>
                <a:cubicBezTo>
                  <a:pt x="114" y="106"/>
                  <a:pt x="106" y="114"/>
                  <a:pt x="96" y="119"/>
                </a:cubicBezTo>
                <a:lnTo>
                  <a:pt x="96" y="393"/>
                </a:lnTo>
                <a:cubicBezTo>
                  <a:pt x="106" y="398"/>
                  <a:pt x="114" y="406"/>
                  <a:pt x="119" y="416"/>
                </a:cubicBezTo>
                <a:lnTo>
                  <a:pt x="393" y="416"/>
                </a:lnTo>
                <a:cubicBezTo>
                  <a:pt x="393" y="415"/>
                  <a:pt x="394" y="414"/>
                  <a:pt x="394" y="413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25" name="ir-t-560-176"/>
          <p:cNvSpPr txBox="1"/>
          <p:nvPr/>
        </p:nvSpPr>
        <p:spPr>
          <a:xfrm>
            <a:off x="7543800" y="2209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分区边界</a:t>
            </a:r>
            <a:endParaRPr lang="en-US" sz="1350"/>
          </a:p>
        </p:txBody>
      </p:sp>
      <p:sp>
        <p:nvSpPr>
          <p:cNvPr id="26" name="ir-d-560-176"/>
          <p:cNvSpPr txBox="1"/>
          <p:nvPr/>
        </p:nvSpPr>
        <p:spPr>
          <a:xfrm>
            <a:off x="7543800" y="2514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几何化、可计算的界面位置</a:t>
            </a:r>
            <a:endParaRPr lang="en-US" sz="1050"/>
          </a:p>
        </p:txBody>
      </p:sp>
      <p:sp>
        <p:nvSpPr>
          <p:cNvPr id="27" name="ir-560-242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7112000" y="307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28" name="ir-t-560-242"/>
          <p:cNvSpPr txBox="1"/>
          <p:nvPr/>
        </p:nvSpPr>
        <p:spPr>
          <a:xfrm>
            <a:off x="7543800" y="304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速度 / 材料区域</a:t>
            </a:r>
            <a:endParaRPr lang="en-US" sz="1350"/>
          </a:p>
        </p:txBody>
      </p:sp>
      <p:sp>
        <p:nvSpPr>
          <p:cNvPr id="29" name="ir-d-560-242"/>
          <p:cNvSpPr txBox="1"/>
          <p:nvPr/>
        </p:nvSpPr>
        <p:spPr>
          <a:xfrm>
            <a:off x="7543800" y="3352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面向介质参数赋值的分区单元</a:t>
            </a:r>
            <a:endParaRPr lang="en-US" sz="1050"/>
          </a:p>
        </p:txBody>
      </p:sp>
      <p:sp>
        <p:nvSpPr>
          <p:cNvPr id="30" name="ir-560-308"/>
          <p:cNvSpPr/>
          <p:nvPr>
            <p:extLst>
              <p:ext uri="{F5677B7D-0D2A-4D9B-9A5C-6D8D7D0E5A5D}">
                <pptd:icon encoding="base64url">eyJpY29uTmFtZSI6ImZhczp2ZWN0b3Itc3F1YXJlIn0</pptd:icon>
              </p:ext>
            </p:extLst>
          </p:nvPr>
        </p:nvSpPr>
        <p:spPr>
          <a:xfrm>
            <a:off x="7112000" y="3911600"/>
            <a:ext cx="254000" cy="254000"/>
          </a:xfrm>
          <a:prstGeom prst="ellipse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1" name="ir-t-560-308"/>
          <p:cNvSpPr txBox="1"/>
          <p:nvPr/>
        </p:nvSpPr>
        <p:spPr>
          <a:xfrm>
            <a:off x="7543800" y="3886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多边形模型</a:t>
            </a:r>
            <a:endParaRPr lang="en-US" sz="1350"/>
          </a:p>
        </p:txBody>
      </p:sp>
      <p:sp>
        <p:nvSpPr>
          <p:cNvPr id="32" name="ir-d-560-308"/>
          <p:cNvSpPr txBox="1"/>
          <p:nvPr/>
        </p:nvSpPr>
        <p:spPr>
          <a:xfrm>
            <a:off x="7543800" y="419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可编辑、可复用的模型表达</a:t>
            </a:r>
            <a:endParaRPr lang="en-US" sz="1050"/>
          </a:p>
        </p:txBody>
      </p:sp>
      <p:sp>
        <p:nvSpPr>
          <p:cNvPr id="33" name="ir-560-374"/>
          <p:cNvSpPr/>
          <p:nvPr>
            <p:extLst>
              <p:ext uri="{F5677B7D-0D2A-4D9B-9A5C-6D8D7D0E5A5D}">
                <pptd:icon encoding="base64url">eyJpY29uTmFtZSI6ImZhczp3YXZlLXNxdWFyZSJ9</pptd:icon>
              </p:ext>
            </p:extLst>
          </p:nvPr>
        </p:nvSpPr>
        <p:spPr>
          <a:xfrm>
            <a:off x="7112000" y="4749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34" name="ir-t-560-374"/>
          <p:cNvSpPr txBox="1"/>
          <p:nvPr/>
        </p:nvSpPr>
        <p:spPr>
          <a:xfrm>
            <a:off x="7543800" y="4724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b="1">
                <a:solidFill>
                  <a:srgbClr val="F3F4F6"/>
                </a:solidFill>
                <a:latin typeface="MiSans"/>
                <a:ea typeface="MiSans"/>
              </a:rPr>
              <a:t>SEM / SPECFEM 输入</a:t>
            </a:r>
            <a:endParaRPr lang="en-US" sz="1350"/>
          </a:p>
        </p:txBody>
      </p:sp>
      <p:sp>
        <p:nvSpPr>
          <p:cNvPr id="35" name="ir-d-560-374"/>
          <p:cNvSpPr txBox="1"/>
          <p:nvPr/>
        </p:nvSpPr>
        <p:spPr>
          <a:xfrm>
            <a:off x="7543800" y="5029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直接服务谱元法正演模拟</a:t>
            </a:r>
            <a:endParaRPr lang="en-US" sz="1050"/>
          </a:p>
        </p:txBody>
      </p:sp>
      <p:sp>
        <p:nvSpPr>
          <p:cNvPr id="36" name="mid-arrow"/>
          <p:cNvSpPr/>
          <p:nvPr>
            <p:extLst>
              <p:ext uri="{F5677B7D-0D2A-4D9B-9A5C-6D8D7D0E5A5D}">
                <pptd:icon encoding="base64url">eyJpY29uTmFtZSI6ImZhczphcnJvdy1yaWdodC1sb25nIn0</pptd:icon>
              </p:ext>
            </p:extLst>
          </p:nvPr>
        </p:nvSpPr>
        <p:spPr>
          <a:xfrm>
            <a:off x="5664200" y="3327400"/>
            <a:ext cx="863600" cy="863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>
            <a:srgbClr val="FFB000"/>
          </a:solidFill>
          <a:ln>
            <a:noFill/>
          </a:ln>
        </p:spPr>
      </p:sp>
      <p:sp>
        <p:nvSpPr>
          <p:cNvPr id="37" name="mid-label"/>
          <p:cNvSpPr txBox="1"/>
          <p:nvPr/>
        </p:nvSpPr>
        <p:spPr>
          <a:xfrm>
            <a:off x="5257800" y="4318000"/>
            <a:ext cx="167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Image Understanding</a:t>
            </a:r>
            <a:endParaRPr lang="en-US" sz="1050"/>
          </a:p>
          <a:p>
            <a:pPr algn="ctr">
              <a:lnSpc>
                <a:spcPct val="14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+ Segmentation</a:t>
            </a:r>
            <a:endParaRPr lang="en-US" sz="1050"/>
          </a:p>
        </p:txBody>
      </p:sp>
      <p:sp>
        <p:nvSpPr>
          <p:cNvPr id="38" name="bottom-line"/>
          <p:cNvSpPr txBox="1"/>
          <p:nvPr/>
        </p:nvSpPr>
        <p:spPr>
          <a:xfrm>
            <a:off x="609600" y="6172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E5E7EB"/>
                </a:solidFill>
                <a:latin typeface="MiSans"/>
                <a:ea typeface="MiSans"/>
              </a:rPr>
              <a:t>目标：将「图像资料」自动转化为「可用于 SEM 正演的速度分区模型」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PIPELINE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Agent + 图像识别的自动化建模流程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从文献图像输入到 SEM 正演准备的端到端自动流程。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03 / 09</a:t>
            </a:r>
            <a:endParaRPr lang="en-US" sz="950"/>
          </a:p>
        </p:txBody>
      </p:sp>
      <p:pic>
        <p:nvPicPr>
          <p:cNvPr id="8" name="pipeline-img"/>
          <p:cNvPicPr/>
          <p:nvPr/>
        </p:nvPicPr>
        <p:blipFill>
          <a:blip r:embed="rId2"/>
          <a:srcRect l="-8909" r="-8909"/>
          <a:stretch>
            <a:fillRect/>
          </a:stretch>
        </p:blipFill>
        <p:spPr>
          <a:xfrm>
            <a:off x="609600" y="1676400"/>
            <a:ext cx="10972800" cy="4191000"/>
          </a:xfrm>
          <a:prstGeom prst="rect">
            <a:avLst/>
          </a:prstGeom>
          <a:ln>
            <a:noFill/>
          </a:ln>
          <a:effectLst>
            <a:outerShdw blurRad="177800" dist="0" dir="0" sx="100000" sy="100000" kx="0" ky="0" algn="bl" rotWithShape="0">
              <a:srgbClr val="00B8D9">
                <a:alpha val="13333"/>
              </a:srgbClr>
            </a:outerShdw>
          </a:effectLst>
        </p:spPr>
      </p:pic>
      <p:sp>
        <p:nvSpPr>
          <p:cNvPr id="9" name="pipeline-img-border"/>
          <p:cNvSpPr/>
          <p:nvPr/>
        </p:nvSpPr>
        <p:spPr>
          <a:xfrm>
            <a:off x="609600" y="1676400"/>
            <a:ext cx="10972800" cy="41910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0" name="pipeline-cap"/>
          <p:cNvSpPr txBox="1"/>
          <p:nvPr/>
        </p:nvSpPr>
        <p:spPr>
          <a:xfrm>
            <a:off x="609600" y="5969000"/>
            <a:ext cx="10972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5B6B84"/>
                </a:solidFill>
                <a:latin typeface="MiSans"/>
                <a:ea typeface="MiSans"/>
              </a:rPr>
              <a:t>输入资料 → Agent 理解 → 目标检测 → 预处理 → 分区识别 → 质量审查 → 界面提取 → SEM 输入</a:t>
            </a:r>
            <a:endParaRPr lang="en-US" sz="1000"/>
          </a:p>
        </p:txBody>
      </p:sp>
      <p:sp>
        <p:nvSpPr>
          <p:cNvPr id="11" name="tag-278-494"/>
          <p:cNvSpPr/>
          <p:nvPr/>
        </p:nvSpPr>
        <p:spPr>
          <a:xfrm>
            <a:off x="3530600" y="62738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2" name="tag-t-278-494"/>
          <p:cNvSpPr txBox="1"/>
          <p:nvPr/>
        </p:nvSpPr>
        <p:spPr>
          <a:xfrm>
            <a:off x="3530600" y="62738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Agent Planning</a:t>
            </a:r>
            <a:endParaRPr lang="en-US" sz="1050"/>
          </a:p>
        </p:txBody>
      </p:sp>
      <p:sp>
        <p:nvSpPr>
          <p:cNvPr id="13" name="tag-409.6-494"/>
          <p:cNvSpPr/>
          <p:nvPr/>
        </p:nvSpPr>
        <p:spPr>
          <a:xfrm>
            <a:off x="5207000" y="6273800"/>
            <a:ext cx="16002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4" name="tag-t-409.6-494"/>
          <p:cNvSpPr txBox="1"/>
          <p:nvPr/>
        </p:nvSpPr>
        <p:spPr>
          <a:xfrm>
            <a:off x="5207000" y="62738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CV Segmentation</a:t>
            </a:r>
            <a:endParaRPr lang="en-US" sz="1050"/>
          </a:p>
        </p:txBody>
      </p:sp>
      <p:sp>
        <p:nvSpPr>
          <p:cNvPr id="15" name="tag-547.6-494"/>
          <p:cNvSpPr/>
          <p:nvPr/>
        </p:nvSpPr>
        <p:spPr>
          <a:xfrm>
            <a:off x="6959600" y="6273800"/>
            <a:ext cx="13589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6" name="tag-t-547.6-494"/>
          <p:cNvSpPr txBox="1"/>
          <p:nvPr/>
        </p:nvSpPr>
        <p:spPr>
          <a:xfrm>
            <a:off x="6959600" y="6273800"/>
            <a:ext cx="13589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Human Review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AGENT LOOP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Agent：从「看图」到「自动执行」的闭环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Observe → Plan → Execute → Review → Refine，由 Agent 自动编排多步识别流程。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04 / 09</a:t>
            </a:r>
            <a:endParaRPr lang="en-US" sz="950"/>
          </a:p>
        </p:txBody>
      </p:sp>
      <p:pic>
        <p:nvPicPr>
          <p:cNvPr id="8" name="loop-img"/>
          <p:cNvPicPr/>
          <p:nvPr/>
        </p:nvPicPr>
        <p:blipFill>
          <a:blip r:embed="rId2"/>
          <a:srcRect l="-3457" r="-3457"/>
          <a:stretch>
            <a:fillRect/>
          </a:stretch>
        </p:blipFill>
        <p:spPr>
          <a:xfrm>
            <a:off x="812800" y="1778000"/>
            <a:ext cx="5080000" cy="4724400"/>
          </a:xfrm>
          <a:prstGeom prst="rect">
            <a:avLst/>
          </a:prstGeom>
          <a:ln>
            <a:noFill/>
          </a:ln>
        </p:spPr>
      </p:pic>
      <p:sp>
        <p:nvSpPr>
          <p:cNvPr id="9" name="dlg-head"/>
          <p:cNvSpPr txBox="1"/>
          <p:nvPr/>
        </p:nvSpPr>
        <p:spPr>
          <a:xfrm>
            <a:off x="6807200" y="1600200"/>
            <a:ext cx="4775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150" kern="0">
                <a:solidFill>
                  <a:srgbClr val="9CA3AF"/>
                </a:solidFill>
                <a:latin typeface="MiSans"/>
                <a:ea typeface="MiSans"/>
              </a:rPr>
              <a:t>人机协同 · HUMAN-IN-THE-LOOP</a:t>
            </a:r>
            <a:endParaRPr lang="en-US" sz="1200"/>
          </a:p>
        </p:txBody>
      </p:sp>
      <p:sp>
        <p:nvSpPr>
          <p:cNvPr id="10" name="dlg-box-0"/>
          <p:cNvSpPr/>
          <p:nvPr/>
        </p:nvSpPr>
        <p:spPr>
          <a:xfrm>
            <a:off x="6807200" y="1905000"/>
            <a:ext cx="4775200" cy="787400"/>
          </a:xfrm>
          <a:prstGeom prst="roundRect">
            <a:avLst>
              <a:gd name="adj" fmla="val 10000"/>
            </a:avLst>
          </a:prstGeom>
          <a:solidFill>
            <a:srgbClr val="101B2C"/>
          </a:solidFill>
          <a:ln w="12700">
            <a:solidFill>
              <a:srgbClr val="22314A"/>
            </a:solidFill>
          </a:ln>
        </p:spPr>
      </p:sp>
      <p:sp>
        <p:nvSpPr>
          <p:cNvPr id="11" name="dlg-bar-0"/>
          <p:cNvSpPr/>
          <p:nvPr/>
        </p:nvSpPr>
        <p:spPr>
          <a:xfrm>
            <a:off x="6807200" y="1905000"/>
            <a:ext cx="38100" cy="7874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12" name="dlg-who-0"/>
          <p:cNvSpPr txBox="1"/>
          <p:nvPr/>
        </p:nvSpPr>
        <p:spPr>
          <a:xfrm>
            <a:off x="7061200" y="20066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00B8D9"/>
                </a:solidFill>
                <a:latin typeface="MiSans"/>
                <a:ea typeface="MiSans"/>
              </a:rPr>
              <a:t>User</a:t>
            </a:r>
            <a:endParaRPr lang="en-US" sz="1100"/>
          </a:p>
        </p:txBody>
      </p:sp>
      <p:sp>
        <p:nvSpPr>
          <p:cNvPr id="13" name="dlg-t-0"/>
          <p:cNvSpPr txBox="1"/>
          <p:nvPr/>
        </p:nvSpPr>
        <p:spPr>
          <a:xfrm>
            <a:off x="7061200" y="22479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E5E7EB"/>
                </a:solidFill>
                <a:latin typeface="MiSans"/>
                <a:ea typeface="MiSans"/>
              </a:rPr>
              <a:t>识别这张速度模型图。</a:t>
            </a:r>
            <a:endParaRPr lang="en-US" sz="1200"/>
          </a:p>
        </p:txBody>
      </p:sp>
      <p:sp>
        <p:nvSpPr>
          <p:cNvPr id="14" name="dlg-box-1"/>
          <p:cNvSpPr/>
          <p:nvPr/>
        </p:nvSpPr>
        <p:spPr>
          <a:xfrm>
            <a:off x="6807200" y="2870200"/>
            <a:ext cx="4775200" cy="787400"/>
          </a:xfrm>
          <a:prstGeom prst="roundRect">
            <a:avLst>
              <a:gd name="adj" fmla="val 10000"/>
            </a:avLst>
          </a:prstGeom>
          <a:solidFill>
            <a:srgbClr val="101B2C"/>
          </a:solidFill>
          <a:ln w="12700">
            <a:solidFill>
              <a:srgbClr val="22314A"/>
            </a:solidFill>
          </a:ln>
        </p:spPr>
      </p:sp>
      <p:sp>
        <p:nvSpPr>
          <p:cNvPr id="15" name="dlg-bar-1"/>
          <p:cNvSpPr/>
          <p:nvPr/>
        </p:nvSpPr>
        <p:spPr>
          <a:xfrm>
            <a:off x="6807200" y="2870200"/>
            <a:ext cx="38100" cy="787400"/>
          </a:xfrm>
          <a:prstGeom prst="rect">
            <a:avLst/>
          </a:prstGeom>
          <a:solidFill>
            <a:srgbClr val="FFB000"/>
          </a:solidFill>
          <a:ln>
            <a:noFill/>
          </a:ln>
        </p:spPr>
      </p:sp>
      <p:sp>
        <p:nvSpPr>
          <p:cNvPr id="16" name="dlg-who-1"/>
          <p:cNvSpPr txBox="1"/>
          <p:nvPr/>
        </p:nvSpPr>
        <p:spPr>
          <a:xfrm>
            <a:off x="7061200" y="29718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FFB000"/>
                </a:solidFill>
                <a:latin typeface="MiSans"/>
                <a:ea typeface="MiSans"/>
              </a:rPr>
              <a:t>Agent</a:t>
            </a:r>
            <a:endParaRPr lang="en-US" sz="1100"/>
          </a:p>
        </p:txBody>
      </p:sp>
      <p:sp>
        <p:nvSpPr>
          <p:cNvPr id="17" name="dlg-t-1"/>
          <p:cNvSpPr txBox="1"/>
          <p:nvPr/>
        </p:nvSpPr>
        <p:spPr>
          <a:xfrm>
            <a:off x="7061200" y="32131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E5E7EB"/>
                </a:solidFill>
                <a:latin typeface="MiSans"/>
                <a:ea typeface="MiSans"/>
              </a:rPr>
              <a:t>检测有效区域与颜色条，选择算法，生成分区结果。</a:t>
            </a:r>
            <a:endParaRPr lang="en-US" sz="1200"/>
          </a:p>
        </p:txBody>
      </p:sp>
      <p:sp>
        <p:nvSpPr>
          <p:cNvPr id="18" name="dlg-box-2"/>
          <p:cNvSpPr/>
          <p:nvPr/>
        </p:nvSpPr>
        <p:spPr>
          <a:xfrm>
            <a:off x="6807200" y="3835400"/>
            <a:ext cx="4775200" cy="787400"/>
          </a:xfrm>
          <a:prstGeom prst="roundRect">
            <a:avLst>
              <a:gd name="adj" fmla="val 10000"/>
            </a:avLst>
          </a:prstGeom>
          <a:solidFill>
            <a:srgbClr val="101B2C"/>
          </a:solidFill>
          <a:ln w="12700">
            <a:solidFill>
              <a:srgbClr val="22314A"/>
            </a:solidFill>
          </a:ln>
        </p:spPr>
      </p:sp>
      <p:sp>
        <p:nvSpPr>
          <p:cNvPr id="19" name="dlg-bar-2"/>
          <p:cNvSpPr/>
          <p:nvPr/>
        </p:nvSpPr>
        <p:spPr>
          <a:xfrm>
            <a:off x="6807200" y="3835400"/>
            <a:ext cx="38100" cy="7874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20" name="dlg-who-2"/>
          <p:cNvSpPr txBox="1"/>
          <p:nvPr/>
        </p:nvSpPr>
        <p:spPr>
          <a:xfrm>
            <a:off x="7061200" y="39370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00B8D9"/>
                </a:solidFill>
                <a:latin typeface="MiSans"/>
                <a:ea typeface="MiSans"/>
              </a:rPr>
              <a:t>User</a:t>
            </a:r>
            <a:endParaRPr lang="en-US" sz="1100"/>
          </a:p>
        </p:txBody>
      </p:sp>
      <p:sp>
        <p:nvSpPr>
          <p:cNvPr id="21" name="dlg-t-2"/>
          <p:cNvSpPr txBox="1"/>
          <p:nvPr/>
        </p:nvSpPr>
        <p:spPr>
          <a:xfrm>
            <a:off x="7061200" y="41783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E5E7EB"/>
                </a:solidFill>
                <a:latin typeface="MiSans"/>
                <a:ea typeface="MiSans"/>
              </a:rPr>
              <a:t>底部区域再细分一层。</a:t>
            </a:r>
            <a:endParaRPr lang="en-US" sz="1200"/>
          </a:p>
        </p:txBody>
      </p:sp>
      <p:sp>
        <p:nvSpPr>
          <p:cNvPr id="22" name="dlg-box-3"/>
          <p:cNvSpPr/>
          <p:nvPr/>
        </p:nvSpPr>
        <p:spPr>
          <a:xfrm>
            <a:off x="6807200" y="4800600"/>
            <a:ext cx="4775200" cy="787400"/>
          </a:xfrm>
          <a:prstGeom prst="roundRect">
            <a:avLst>
              <a:gd name="adj" fmla="val 10000"/>
            </a:avLst>
          </a:prstGeom>
          <a:solidFill>
            <a:srgbClr val="101B2C"/>
          </a:solidFill>
          <a:ln w="12700">
            <a:solidFill>
              <a:srgbClr val="22314A"/>
            </a:solidFill>
          </a:ln>
        </p:spPr>
      </p:sp>
      <p:sp>
        <p:nvSpPr>
          <p:cNvPr id="23" name="dlg-bar-3"/>
          <p:cNvSpPr/>
          <p:nvPr/>
        </p:nvSpPr>
        <p:spPr>
          <a:xfrm>
            <a:off x="6807200" y="4800600"/>
            <a:ext cx="38100" cy="787400"/>
          </a:xfrm>
          <a:prstGeom prst="rect">
            <a:avLst/>
          </a:prstGeom>
          <a:solidFill>
            <a:srgbClr val="FFB000"/>
          </a:solidFill>
          <a:ln>
            <a:noFill/>
          </a:ln>
        </p:spPr>
      </p:sp>
      <p:sp>
        <p:nvSpPr>
          <p:cNvPr id="24" name="dlg-who-3"/>
          <p:cNvSpPr txBox="1"/>
          <p:nvPr/>
        </p:nvSpPr>
        <p:spPr>
          <a:xfrm>
            <a:off x="7061200" y="4902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FFB000"/>
                </a:solidFill>
                <a:latin typeface="MiSans"/>
                <a:ea typeface="MiSans"/>
              </a:rPr>
              <a:t>Agent</a:t>
            </a:r>
            <a:endParaRPr lang="en-US" sz="1100"/>
          </a:p>
        </p:txBody>
      </p:sp>
      <p:sp>
        <p:nvSpPr>
          <p:cNvPr id="25" name="dlg-t-3"/>
          <p:cNvSpPr txBox="1"/>
          <p:nvPr/>
        </p:nvSpPr>
        <p:spPr>
          <a:xfrm>
            <a:off x="7061200" y="51435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E5E7EB"/>
                </a:solidFill>
                <a:latin typeface="MiSans"/>
                <a:ea typeface="MiSans"/>
              </a:rPr>
              <a:t>自动调整策略并重跑识别流程。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IMAGE RECOGNITION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从像素颜色到地质分区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四步串联：原始图像 → 预处理 → label map → 边界与多边形。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05 / 09</a:t>
            </a:r>
            <a:endParaRPr lang="en-US" sz="950"/>
          </a:p>
        </p:txBody>
      </p:sp>
      <p:pic>
        <p:nvPicPr>
          <p:cNvPr id="8" name="s0-img"/>
          <p:cNvPicPr/>
          <p:nvPr/>
        </p:nvPicPr>
        <p:blipFill>
          <a:blip r:embed="rId2"/>
          <a:srcRect t="-159" b="-159"/>
          <a:stretch>
            <a:fillRect/>
          </a:stretch>
        </p:blipFill>
        <p:spPr>
          <a:xfrm>
            <a:off x="609600" y="2159000"/>
            <a:ext cx="2540000" cy="914400"/>
          </a:xfrm>
          <a:prstGeom prst="rect">
            <a:avLst/>
          </a:prstGeom>
          <a:ln>
            <a:noFill/>
          </a:ln>
        </p:spPr>
      </p:pic>
      <p:sp>
        <p:nvSpPr>
          <p:cNvPr id="9" name="s0-img-border"/>
          <p:cNvSpPr/>
          <p:nvPr/>
        </p:nvSpPr>
        <p:spPr>
          <a:xfrm>
            <a:off x="609600" y="2159000"/>
            <a:ext cx="2540000" cy="9144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0" name="s0-en"/>
          <p:cNvSpPr txBox="1"/>
          <p:nvPr/>
        </p:nvSpPr>
        <p:spPr>
          <a:xfrm>
            <a:off x="609600" y="3225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b="1" spc="100" kern="0">
                <a:solidFill>
                  <a:srgbClr val="00B8D9"/>
                </a:solidFill>
                <a:latin typeface="MiSans"/>
                <a:ea typeface="MiSans"/>
              </a:rPr>
              <a:t>01 · Original</a:t>
            </a:r>
            <a:endParaRPr lang="en-US" sz="1000"/>
          </a:p>
        </p:txBody>
      </p:sp>
      <p:sp>
        <p:nvSpPr>
          <p:cNvPr id="11" name="s0-cn"/>
          <p:cNvSpPr txBox="1"/>
          <p:nvPr/>
        </p:nvSpPr>
        <p:spPr>
          <a:xfrm>
            <a:off x="609600" y="34417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3F4F6"/>
                </a:solidFill>
                <a:latin typeface="MiSans"/>
                <a:ea typeface="MiSans"/>
              </a:rPr>
              <a:t>原始图像</a:t>
            </a:r>
            <a:endParaRPr lang="en-US" sz="1450"/>
          </a:p>
        </p:txBody>
      </p:sp>
      <p:sp>
        <p:nvSpPr>
          <p:cNvPr id="12" name="s0-d"/>
          <p:cNvSpPr txBox="1"/>
          <p:nvPr/>
        </p:nvSpPr>
        <p:spPr>
          <a:xfrm>
            <a:off x="609600" y="3733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文献插图 / 截图直接输入</a:t>
            </a:r>
            <a:endParaRPr lang="en-US" sz="1050"/>
          </a:p>
        </p:txBody>
      </p:sp>
      <p:sp>
        <p:nvSpPr>
          <p:cNvPr id="13" name="s0-ar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3225800" y="25146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pic>
        <p:nvPicPr>
          <p:cNvPr id="14" name="s1-img"/>
          <p:cNvPicPr/>
          <p:nvPr/>
        </p:nvPicPr>
        <p:blipFill>
          <a:blip r:embed="rId3"/>
          <a:srcRect t="-2890" b="-2890"/>
          <a:stretch>
            <a:fillRect/>
          </a:stretch>
        </p:blipFill>
        <p:spPr>
          <a:xfrm>
            <a:off x="3454400" y="2159000"/>
            <a:ext cx="2540000" cy="914400"/>
          </a:xfrm>
          <a:prstGeom prst="rect">
            <a:avLst/>
          </a:prstGeom>
          <a:ln>
            <a:noFill/>
          </a:ln>
        </p:spPr>
      </p:pic>
      <p:sp>
        <p:nvSpPr>
          <p:cNvPr id="15" name="s1-img-border"/>
          <p:cNvSpPr/>
          <p:nvPr/>
        </p:nvSpPr>
        <p:spPr>
          <a:xfrm>
            <a:off x="3454400" y="2159000"/>
            <a:ext cx="2540000" cy="9144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6" name="s1-en"/>
          <p:cNvSpPr txBox="1"/>
          <p:nvPr/>
        </p:nvSpPr>
        <p:spPr>
          <a:xfrm>
            <a:off x="3454400" y="3225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b="1" spc="100" kern="0">
                <a:solidFill>
                  <a:srgbClr val="00B8D9"/>
                </a:solidFill>
                <a:latin typeface="MiSans"/>
                <a:ea typeface="MiSans"/>
              </a:rPr>
              <a:t>02 · Preprocessing</a:t>
            </a:r>
            <a:endParaRPr lang="en-US" sz="1000"/>
          </a:p>
        </p:txBody>
      </p:sp>
      <p:sp>
        <p:nvSpPr>
          <p:cNvPr id="17" name="s1-cn"/>
          <p:cNvSpPr txBox="1"/>
          <p:nvPr/>
        </p:nvSpPr>
        <p:spPr>
          <a:xfrm>
            <a:off x="3454400" y="34417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3F4F6"/>
                </a:solidFill>
                <a:latin typeface="MiSans"/>
                <a:ea typeface="MiSans"/>
              </a:rPr>
              <a:t>图像预处理</a:t>
            </a:r>
            <a:endParaRPr lang="en-US" sz="1450"/>
          </a:p>
        </p:txBody>
      </p:sp>
      <p:sp>
        <p:nvSpPr>
          <p:cNvPr id="18" name="s1-d"/>
          <p:cNvSpPr txBox="1"/>
          <p:nvPr/>
        </p:nvSpPr>
        <p:spPr>
          <a:xfrm>
            <a:off x="3454400" y="3733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裁剪有效面板，去除文字与坐标轴</a:t>
            </a:r>
            <a:endParaRPr lang="en-US" sz="1050"/>
          </a:p>
        </p:txBody>
      </p:sp>
      <p:sp>
        <p:nvSpPr>
          <p:cNvPr id="19" name="s1-ar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6070600" y="25146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pic>
        <p:nvPicPr>
          <p:cNvPr id="20" name="s2-img"/>
          <p:cNvPicPr/>
          <p:nvPr/>
        </p:nvPicPr>
        <p:blipFill>
          <a:blip r:embed="rId4"/>
          <a:srcRect t="-159" b="-159"/>
          <a:stretch>
            <a:fillRect/>
          </a:stretch>
        </p:blipFill>
        <p:spPr>
          <a:xfrm>
            <a:off x="6299200" y="2159000"/>
            <a:ext cx="2540000" cy="914400"/>
          </a:xfrm>
          <a:prstGeom prst="rect">
            <a:avLst/>
          </a:prstGeom>
          <a:ln>
            <a:noFill/>
          </a:ln>
        </p:spPr>
      </p:pic>
      <p:sp>
        <p:nvSpPr>
          <p:cNvPr id="21" name="s2-img-border"/>
          <p:cNvSpPr/>
          <p:nvPr/>
        </p:nvSpPr>
        <p:spPr>
          <a:xfrm>
            <a:off x="6299200" y="2159000"/>
            <a:ext cx="2540000" cy="9144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22" name="s2-en"/>
          <p:cNvSpPr txBox="1"/>
          <p:nvPr/>
        </p:nvSpPr>
        <p:spPr>
          <a:xfrm>
            <a:off x="6299200" y="3225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b="1" spc="100" kern="0">
                <a:solidFill>
                  <a:srgbClr val="00B8D9"/>
                </a:solidFill>
                <a:latin typeface="MiSans"/>
                <a:ea typeface="MiSans"/>
              </a:rPr>
              <a:t>03 · Label Map</a:t>
            </a:r>
            <a:endParaRPr lang="en-US" sz="1000"/>
          </a:p>
        </p:txBody>
      </p:sp>
      <p:sp>
        <p:nvSpPr>
          <p:cNvPr id="23" name="s2-cn"/>
          <p:cNvSpPr txBox="1"/>
          <p:nvPr/>
        </p:nvSpPr>
        <p:spPr>
          <a:xfrm>
            <a:off x="6299200" y="34417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3F4F6"/>
                </a:solidFill>
                <a:latin typeface="MiSans"/>
                <a:ea typeface="MiSans"/>
              </a:rPr>
              <a:t>区域分割</a:t>
            </a:r>
            <a:endParaRPr lang="en-US" sz="1450"/>
          </a:p>
        </p:txBody>
      </p:sp>
      <p:sp>
        <p:nvSpPr>
          <p:cNvPr id="24" name="s2-d"/>
          <p:cNvSpPr txBox="1"/>
          <p:nvPr/>
        </p:nvSpPr>
        <p:spPr>
          <a:xfrm>
            <a:off x="6299200" y="3733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颜色聚类 + 超像素 + 区域融合</a:t>
            </a:r>
            <a:endParaRPr lang="en-US" sz="1050"/>
          </a:p>
        </p:txBody>
      </p:sp>
      <p:sp>
        <p:nvSpPr>
          <p:cNvPr id="25" name="s2-ar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8915400" y="25146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pic>
        <p:nvPicPr>
          <p:cNvPr id="26" name="s3-img"/>
          <p:cNvPicPr/>
          <p:nvPr/>
        </p:nvPicPr>
        <p:blipFill>
          <a:blip r:embed="rId5"/>
          <a:srcRect t="-159" b="-159"/>
          <a:stretch>
            <a:fillRect/>
          </a:stretch>
        </p:blipFill>
        <p:spPr>
          <a:xfrm>
            <a:off x="9144000" y="2159000"/>
            <a:ext cx="2540000" cy="914400"/>
          </a:xfrm>
          <a:prstGeom prst="rect">
            <a:avLst/>
          </a:prstGeom>
          <a:ln>
            <a:noFill/>
          </a:ln>
        </p:spPr>
      </p:pic>
      <p:sp>
        <p:nvSpPr>
          <p:cNvPr id="27" name="s3-img-border"/>
          <p:cNvSpPr/>
          <p:nvPr/>
        </p:nvSpPr>
        <p:spPr>
          <a:xfrm>
            <a:off x="9144000" y="2159000"/>
            <a:ext cx="2540000" cy="9144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28" name="s3-en"/>
          <p:cNvSpPr txBox="1"/>
          <p:nvPr/>
        </p:nvSpPr>
        <p:spPr>
          <a:xfrm>
            <a:off x="9144000" y="3225800"/>
            <a:ext cx="254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b="1" spc="100" kern="0">
                <a:solidFill>
                  <a:srgbClr val="00B8D9"/>
                </a:solidFill>
                <a:latin typeface="MiSans"/>
                <a:ea typeface="MiSans"/>
              </a:rPr>
              <a:t>04 · Boundary</a:t>
            </a:r>
            <a:endParaRPr lang="en-US" sz="1000"/>
          </a:p>
        </p:txBody>
      </p:sp>
      <p:sp>
        <p:nvSpPr>
          <p:cNvPr id="29" name="s3-cn"/>
          <p:cNvSpPr txBox="1"/>
          <p:nvPr/>
        </p:nvSpPr>
        <p:spPr>
          <a:xfrm>
            <a:off x="9144000" y="34417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b="1">
                <a:solidFill>
                  <a:srgbClr val="F3F4F6"/>
                </a:solidFill>
                <a:latin typeface="MiSans"/>
                <a:ea typeface="MiSans"/>
              </a:rPr>
              <a:t>边界 / 多边形</a:t>
            </a:r>
            <a:endParaRPr lang="en-US" sz="1450"/>
          </a:p>
        </p:txBody>
      </p:sp>
      <p:sp>
        <p:nvSpPr>
          <p:cNvPr id="30" name="s3-d"/>
          <p:cNvSpPr txBox="1"/>
          <p:nvPr/>
        </p:nvSpPr>
        <p:spPr>
          <a:xfrm>
            <a:off x="9144000" y="37338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从 label map 提取界面与分区</a:t>
            </a:r>
            <a:endParaRPr lang="en-US" sz="1050"/>
          </a:p>
        </p:txBody>
      </p:sp>
      <p:sp>
        <p:nvSpPr>
          <p:cNvPr id="31" name="key-box"/>
          <p:cNvSpPr/>
          <p:nvPr/>
        </p:nvSpPr>
        <p:spPr>
          <a:xfrm>
            <a:off x="609600" y="4978400"/>
            <a:ext cx="10972800" cy="711200"/>
          </a:xfrm>
          <a:prstGeom prst="roundRect">
            <a:avLst>
              <a:gd name="adj" fmla="val 1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32" name="key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9144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FFB000"/>
          </a:solidFill>
          <a:ln>
            <a:noFill/>
          </a:ln>
        </p:spPr>
      </p:sp>
      <p:sp>
        <p:nvSpPr>
          <p:cNvPr id="33" name="key-text"/>
          <p:cNvSpPr txBox="1"/>
          <p:nvPr/>
        </p:nvSpPr>
        <p:spPr>
          <a:xfrm>
            <a:off x="1422400" y="4978400"/>
            <a:ext cx="990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>
                <a:solidFill>
                  <a:srgbClr val="E5E7EB"/>
                </a:solidFill>
                <a:latin typeface="MiSans"/>
                <a:ea typeface="MiSans"/>
              </a:rPr>
              <a:t>图像先被转化为</a:t>
            </a:r>
            <a:r>
              <a:rPr lang="en-US" sz="1350" b="1">
                <a:solidFill>
                  <a:srgbClr val="00B8D9"/>
                </a:solidFill>
                <a:latin typeface="MiSans"/>
                <a:ea typeface="MiSans"/>
              </a:rPr>
              <a:t>可计算的 label map</a:t>
            </a:r>
            <a:r>
              <a:rPr lang="en-US" sz="1350">
                <a:solidFill>
                  <a:srgbClr val="E5E7EB"/>
                </a:solidFill>
                <a:latin typeface="MiSans"/>
                <a:ea typeface="MiSans"/>
              </a:rPr>
              <a:t>，再从中提取分区边界和多边形模型。</a:t>
            </a:r>
            <a:endParaRPr lang="en-US" sz="1350"/>
          </a:p>
        </p:txBody>
      </p:sp>
      <p:sp>
        <p:nvSpPr>
          <p:cNvPr id="34" name="flow-note"/>
          <p:cNvSpPr txBox="1"/>
          <p:nvPr/>
        </p:nvSpPr>
        <p:spPr>
          <a:xfrm>
            <a:off x="609600" y="59944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>
                <a:solidFill>
                  <a:srgbClr val="5B6B84"/>
                </a:solidFill>
                <a:latin typeface="MiSans"/>
                <a:ea typeface="MiSans"/>
              </a:rPr>
              <a:t>K-Means · SLIC 超像素 · 区域融合 · 边界引导 —— 算法选择由 Agent 按图像类型自动完成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CASE 1 · INVERSION IMAGE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案例 1：从反演速度模型图中提取速度分区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没有原始数值模型，也能从图像中获得可用于后续正演的结构近似。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06 / 09</a:t>
            </a:r>
            <a:endParaRPr lang="en-US" sz="950"/>
          </a:p>
        </p:txBody>
      </p:sp>
      <p:pic>
        <p:nvPicPr>
          <p:cNvPr id="8" name="case1-img"/>
          <p:cNvPicPr/>
          <p:nvPr/>
        </p:nvPicPr>
        <p:blipFill>
          <a:blip r:embed="rId2"/>
          <a:srcRect t="-93" b="-93"/>
          <a:stretch>
            <a:fillRect/>
          </a:stretch>
        </p:blipFill>
        <p:spPr>
          <a:xfrm>
            <a:off x="609600" y="1676400"/>
            <a:ext cx="10972800" cy="3759200"/>
          </a:xfrm>
          <a:prstGeom prst="rect">
            <a:avLst/>
          </a:prstGeom>
          <a:ln>
            <a:noFill/>
          </a:ln>
          <a:effectLst>
            <a:outerShdw blurRad="177800" dist="0" dir="0" sx="100000" sy="100000" kx="0" ky="0" algn="bl" rotWithShape="0">
              <a:srgbClr val="00B8D9">
                <a:alpha val="13333"/>
              </a:srgbClr>
            </a:outerShdw>
          </a:effectLst>
        </p:spPr>
      </p:pic>
      <p:sp>
        <p:nvSpPr>
          <p:cNvPr id="9" name="case1-img-border"/>
          <p:cNvSpPr/>
          <p:nvPr/>
        </p:nvSpPr>
        <p:spPr>
          <a:xfrm>
            <a:off x="609600" y="1676400"/>
            <a:ext cx="10972800" cy="37592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0" name="case1-cap"/>
          <p:cNvSpPr txBox="1"/>
          <p:nvPr/>
        </p:nvSpPr>
        <p:spPr>
          <a:xfrm>
            <a:off x="609600" y="5562600"/>
            <a:ext cx="109728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5B6B84"/>
                </a:solidFill>
                <a:latin typeface="MiSans"/>
                <a:ea typeface="MiSans"/>
              </a:rPr>
              <a:t>每条剖面一组对比：原始反演速度图 → 自动分区结果 → overlay 审查</a:t>
            </a:r>
            <a:endParaRPr lang="en-US" sz="1000"/>
          </a:p>
        </p:txBody>
      </p:sp>
      <p:sp>
        <p:nvSpPr>
          <p:cNvPr id="11" name="tag-246-466"/>
          <p:cNvSpPr/>
          <p:nvPr/>
        </p:nvSpPr>
        <p:spPr>
          <a:xfrm>
            <a:off x="3124200" y="5918200"/>
            <a:ext cx="20066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2" name="tag-t-246-466"/>
          <p:cNvSpPr txBox="1"/>
          <p:nvPr/>
        </p:nvSpPr>
        <p:spPr>
          <a:xfrm>
            <a:off x="3124200" y="5918200"/>
            <a:ext cx="2006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Original · Inversion</a:t>
            </a:r>
            <a:endParaRPr lang="en-US" sz="1050"/>
          </a:p>
        </p:txBody>
      </p:sp>
      <p:sp>
        <p:nvSpPr>
          <p:cNvPr id="13" name="tag-416.0-466"/>
          <p:cNvSpPr/>
          <p:nvPr/>
        </p:nvSpPr>
        <p:spPr>
          <a:xfrm>
            <a:off x="5283200" y="59182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4" name="tag-t-416.0-466"/>
          <p:cNvSpPr txBox="1"/>
          <p:nvPr/>
        </p:nvSpPr>
        <p:spPr>
          <a:xfrm>
            <a:off x="5283200" y="5918200"/>
            <a:ext cx="111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Zone Mask</a:t>
            </a:r>
            <a:endParaRPr lang="en-US" sz="1050"/>
          </a:p>
        </p:txBody>
      </p:sp>
      <p:sp>
        <p:nvSpPr>
          <p:cNvPr id="15" name="tag-515.6-466"/>
          <p:cNvSpPr/>
          <p:nvPr/>
        </p:nvSpPr>
        <p:spPr>
          <a:xfrm>
            <a:off x="6553200" y="5918200"/>
            <a:ext cx="19304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6" name="tag-t-515.6-466"/>
          <p:cNvSpPr txBox="1"/>
          <p:nvPr/>
        </p:nvSpPr>
        <p:spPr>
          <a:xfrm>
            <a:off x="6553200" y="5918200"/>
            <a:ext cx="1930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SEM-ready Partition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CASE 2 · CONCEPT MODEL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案例 2：从概念模型图中自动识别分区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边界清晰的概念模型图，是验证分区识别流程的基准情形。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07 / 09</a:t>
            </a:r>
            <a:endParaRPr lang="en-US" sz="950"/>
          </a:p>
        </p:txBody>
      </p:sp>
      <p:pic>
        <p:nvPicPr>
          <p:cNvPr id="8" name="c2a"/>
          <p:cNvPicPr/>
          <p:nvPr/>
        </p:nvPicPr>
        <p:blipFill>
          <a:blip r:embed="rId2"/>
          <a:srcRect l="-101" r="-101"/>
          <a:stretch>
            <a:fillRect/>
          </a:stretch>
        </p:blipFill>
        <p:spPr>
          <a:xfrm>
            <a:off x="571500" y="1701800"/>
            <a:ext cx="5461000" cy="1955800"/>
          </a:xfrm>
          <a:prstGeom prst="rect">
            <a:avLst/>
          </a:prstGeom>
          <a:ln>
            <a:noFill/>
          </a:ln>
        </p:spPr>
      </p:pic>
      <p:sp>
        <p:nvSpPr>
          <p:cNvPr id="9" name="c2a-border"/>
          <p:cNvSpPr/>
          <p:nvPr/>
        </p:nvSpPr>
        <p:spPr>
          <a:xfrm>
            <a:off x="571500" y="1701800"/>
            <a:ext cx="5461000" cy="19558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0" name="c2a-lab"/>
          <p:cNvSpPr/>
          <p:nvPr/>
        </p:nvSpPr>
        <p:spPr>
          <a:xfrm>
            <a:off x="673100" y="1803400"/>
            <a:ext cx="1193800" cy="228600"/>
          </a:xfrm>
          <a:prstGeom prst="roundRect">
            <a:avLst>
              <a:gd name="adj" fmla="val 50000"/>
            </a:avLst>
          </a:prstGeom>
          <a:solidFill>
            <a:srgbClr val="08111F">
              <a:alpha val="80000"/>
            </a:srgbClr>
          </a:solidFill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1" name="c2a-labt"/>
          <p:cNvSpPr txBox="1"/>
          <p:nvPr/>
        </p:nvSpPr>
        <p:spPr>
          <a:xfrm>
            <a:off x="673100" y="1803400"/>
            <a:ext cx="1193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00B8D9"/>
                </a:solidFill>
                <a:latin typeface="MiSans"/>
                <a:ea typeface="MiSans"/>
              </a:rPr>
              <a:t>① Original</a:t>
            </a:r>
            <a:endParaRPr lang="en-US" sz="950"/>
          </a:p>
        </p:txBody>
      </p:sp>
      <p:pic>
        <p:nvPicPr>
          <p:cNvPr id="12" name="c2b"/>
          <p:cNvPicPr/>
          <p:nvPr/>
        </p:nvPicPr>
        <p:blipFill>
          <a:blip r:embed="rId3"/>
          <a:srcRect l="-101" r="-101"/>
          <a:stretch>
            <a:fillRect/>
          </a:stretch>
        </p:blipFill>
        <p:spPr>
          <a:xfrm>
            <a:off x="6159500" y="1701800"/>
            <a:ext cx="5461000" cy="1955800"/>
          </a:xfrm>
          <a:prstGeom prst="rect">
            <a:avLst/>
          </a:prstGeom>
          <a:ln>
            <a:noFill/>
          </a:ln>
        </p:spPr>
      </p:pic>
      <p:sp>
        <p:nvSpPr>
          <p:cNvPr id="13" name="c2b-border"/>
          <p:cNvSpPr/>
          <p:nvPr/>
        </p:nvSpPr>
        <p:spPr>
          <a:xfrm>
            <a:off x="6159500" y="1701800"/>
            <a:ext cx="5461000" cy="19558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4" name="c2b-lab"/>
          <p:cNvSpPr/>
          <p:nvPr/>
        </p:nvSpPr>
        <p:spPr>
          <a:xfrm>
            <a:off x="6261100" y="1803400"/>
            <a:ext cx="1282700" cy="228600"/>
          </a:xfrm>
          <a:prstGeom prst="roundRect">
            <a:avLst>
              <a:gd name="adj" fmla="val 50000"/>
            </a:avLst>
          </a:prstGeom>
          <a:solidFill>
            <a:srgbClr val="08111F">
              <a:alpha val="80000"/>
            </a:srgbClr>
          </a:solidFill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5" name="c2b-labt"/>
          <p:cNvSpPr txBox="1"/>
          <p:nvPr/>
        </p:nvSpPr>
        <p:spPr>
          <a:xfrm>
            <a:off x="6261100" y="1803400"/>
            <a:ext cx="1282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00B8D9"/>
                </a:solidFill>
                <a:latin typeface="MiSans"/>
                <a:ea typeface="MiSans"/>
              </a:rPr>
              <a:t>② Zone Mask</a:t>
            </a:r>
            <a:endParaRPr lang="en-US" sz="950"/>
          </a:p>
        </p:txBody>
      </p:sp>
      <p:pic>
        <p:nvPicPr>
          <p:cNvPr id="16" name="c2c"/>
          <p:cNvPicPr/>
          <p:nvPr/>
        </p:nvPicPr>
        <p:blipFill>
          <a:blip r:embed="rId4"/>
          <a:srcRect l="-101" r="-101"/>
          <a:stretch>
            <a:fillRect/>
          </a:stretch>
        </p:blipFill>
        <p:spPr>
          <a:xfrm>
            <a:off x="3365500" y="3835400"/>
            <a:ext cx="5461000" cy="1955800"/>
          </a:xfrm>
          <a:prstGeom prst="rect">
            <a:avLst/>
          </a:prstGeom>
          <a:ln>
            <a:noFill/>
          </a:ln>
        </p:spPr>
      </p:pic>
      <p:sp>
        <p:nvSpPr>
          <p:cNvPr id="17" name="c2c-border"/>
          <p:cNvSpPr/>
          <p:nvPr/>
        </p:nvSpPr>
        <p:spPr>
          <a:xfrm>
            <a:off x="3365500" y="3835400"/>
            <a:ext cx="5461000" cy="19558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8" name="c2c-lab"/>
          <p:cNvSpPr/>
          <p:nvPr/>
        </p:nvSpPr>
        <p:spPr>
          <a:xfrm>
            <a:off x="3467100" y="3937000"/>
            <a:ext cx="1739900" cy="228600"/>
          </a:xfrm>
          <a:prstGeom prst="roundRect">
            <a:avLst>
              <a:gd name="adj" fmla="val 50000"/>
            </a:avLst>
          </a:prstGeom>
          <a:solidFill>
            <a:srgbClr val="08111F">
              <a:alpha val="80000"/>
            </a:srgbClr>
          </a:solidFill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9" name="c2c-labt"/>
          <p:cNvSpPr txBox="1"/>
          <p:nvPr/>
        </p:nvSpPr>
        <p:spPr>
          <a:xfrm>
            <a:off x="3467100" y="393700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00B8D9"/>
                </a:solidFill>
                <a:latin typeface="MiSans"/>
                <a:ea typeface="MiSans"/>
              </a:rPr>
              <a:t>③ Residual Check</a:t>
            </a:r>
            <a:endParaRPr lang="en-US" sz="950"/>
          </a:p>
        </p:txBody>
      </p:sp>
      <p:sp>
        <p:nvSpPr>
          <p:cNvPr id="20" name="tag-270-472"/>
          <p:cNvSpPr/>
          <p:nvPr/>
        </p:nvSpPr>
        <p:spPr>
          <a:xfrm>
            <a:off x="3429000" y="5994400"/>
            <a:ext cx="18415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21" name="tag-t-270-472"/>
          <p:cNvSpPr txBox="1"/>
          <p:nvPr/>
        </p:nvSpPr>
        <p:spPr>
          <a:xfrm>
            <a:off x="3429000" y="5994400"/>
            <a:ext cx="1841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Color Segmentation</a:t>
            </a:r>
            <a:endParaRPr lang="en-US" sz="1050"/>
          </a:p>
        </p:txBody>
      </p:sp>
      <p:sp>
        <p:nvSpPr>
          <p:cNvPr id="22" name="tag-427.2-472"/>
          <p:cNvSpPr/>
          <p:nvPr/>
        </p:nvSpPr>
        <p:spPr>
          <a:xfrm>
            <a:off x="5422900" y="5994400"/>
            <a:ext cx="12700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23" name="tag-t-427.2-472"/>
          <p:cNvSpPr txBox="1"/>
          <p:nvPr/>
        </p:nvSpPr>
        <p:spPr>
          <a:xfrm>
            <a:off x="5422900" y="59944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Region Mask</a:t>
            </a:r>
            <a:endParaRPr lang="en-US" sz="1050"/>
          </a:p>
        </p:txBody>
      </p:sp>
      <p:sp>
        <p:nvSpPr>
          <p:cNvPr id="24" name="tag-539.6-472"/>
          <p:cNvSpPr/>
          <p:nvPr/>
        </p:nvSpPr>
        <p:spPr>
          <a:xfrm>
            <a:off x="6858000" y="5994400"/>
            <a:ext cx="19304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25" name="tag-t-539.6-472"/>
          <p:cNvSpPr txBox="1"/>
          <p:nvPr/>
        </p:nvSpPr>
        <p:spPr>
          <a:xfrm>
            <a:off x="6858000" y="5994400"/>
            <a:ext cx="1930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Residual Correction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CASE 3 · COMPLEX GEOMETRY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案例 3：复杂几何图中的边界与区域识别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在几何变形与边界弯曲情形下，方法仍能稳定提取区域与界面。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08 / 09</a:t>
            </a:r>
            <a:endParaRPr lang="en-US" sz="950"/>
          </a:p>
        </p:txBody>
      </p:sp>
      <p:pic>
        <p:nvPicPr>
          <p:cNvPr id="8" name="case3-img"/>
          <p:cNvPicPr/>
          <p:nvPr/>
        </p:nvPicPr>
        <p:blipFill>
          <a:blip r:embed="rId2"/>
          <a:srcRect t="-49" b="-49"/>
          <a:stretch>
            <a:fillRect/>
          </a:stretch>
        </p:blipFill>
        <p:spPr>
          <a:xfrm>
            <a:off x="304800" y="1676400"/>
            <a:ext cx="11582400" cy="3098800"/>
          </a:xfrm>
          <a:prstGeom prst="rect">
            <a:avLst/>
          </a:prstGeom>
          <a:ln>
            <a:noFill/>
          </a:ln>
          <a:effectLst>
            <a:outerShdw blurRad="177800" dist="0" dir="0" sx="100000" sy="100000" kx="0" ky="0" algn="bl" rotWithShape="0">
              <a:srgbClr val="00B8D9">
                <a:alpha val="13333"/>
              </a:srgbClr>
            </a:outerShdw>
          </a:effectLst>
        </p:spPr>
      </p:pic>
      <p:sp>
        <p:nvSpPr>
          <p:cNvPr id="9" name="case3-img-border"/>
          <p:cNvSpPr/>
          <p:nvPr/>
        </p:nvSpPr>
        <p:spPr>
          <a:xfrm>
            <a:off x="304800" y="1676400"/>
            <a:ext cx="11582400" cy="3098800"/>
          </a:xfrm>
          <a:prstGeom prst="rect">
            <a:avLst/>
          </a:prstGeom>
          <a:noFill/>
          <a:ln w="12700">
            <a:solidFill>
              <a:srgbClr val="00B8D9">
                <a:alpha val="40000"/>
              </a:srgbClr>
            </a:solidFill>
          </a:ln>
        </p:spPr>
      </p:sp>
      <p:sp>
        <p:nvSpPr>
          <p:cNvPr id="10" name="c3-l1"/>
          <p:cNvSpPr txBox="1"/>
          <p:nvPr/>
        </p:nvSpPr>
        <p:spPr>
          <a:xfrm>
            <a:off x="304800" y="4902200"/>
            <a:ext cx="3860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9CA3AF"/>
                </a:solidFill>
                <a:latin typeface="MiSans"/>
                <a:ea typeface="MiSans"/>
              </a:rPr>
              <a:t>① 原始几何 · Original</a:t>
            </a:r>
            <a:endParaRPr lang="en-US" sz="1000"/>
          </a:p>
        </p:txBody>
      </p:sp>
      <p:sp>
        <p:nvSpPr>
          <p:cNvPr id="11" name="c3-l2"/>
          <p:cNvSpPr txBox="1"/>
          <p:nvPr/>
        </p:nvSpPr>
        <p:spPr>
          <a:xfrm>
            <a:off x="4165600" y="4902200"/>
            <a:ext cx="3860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9CA3AF"/>
                </a:solidFill>
                <a:latin typeface="MiSans"/>
                <a:ea typeface="MiSans"/>
              </a:rPr>
              <a:t>② 边界引导 · Overlay</a:t>
            </a:r>
            <a:endParaRPr lang="en-US" sz="1000"/>
          </a:p>
        </p:txBody>
      </p:sp>
      <p:sp>
        <p:nvSpPr>
          <p:cNvPr id="12" name="c3-l3"/>
          <p:cNvSpPr txBox="1"/>
          <p:nvPr/>
        </p:nvSpPr>
        <p:spPr>
          <a:xfrm>
            <a:off x="8026400" y="4902200"/>
            <a:ext cx="3860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9CA3AF"/>
                </a:solidFill>
                <a:latin typeface="MiSans"/>
                <a:ea typeface="MiSans"/>
              </a:rPr>
              <a:t>③ 伪彩色 · Mask</a:t>
            </a:r>
            <a:endParaRPr lang="en-US" sz="1000"/>
          </a:p>
        </p:txBody>
      </p:sp>
      <p:sp>
        <p:nvSpPr>
          <p:cNvPr id="13" name="tag-262-424"/>
          <p:cNvSpPr/>
          <p:nvPr/>
        </p:nvSpPr>
        <p:spPr>
          <a:xfrm>
            <a:off x="3327400" y="5384800"/>
            <a:ext cx="19304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4" name="tag-t-262-424"/>
          <p:cNvSpPr txBox="1"/>
          <p:nvPr/>
        </p:nvSpPr>
        <p:spPr>
          <a:xfrm>
            <a:off x="3327400" y="5384800"/>
            <a:ext cx="1930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Geometry Correction</a:t>
            </a:r>
            <a:endParaRPr lang="en-US" sz="1050"/>
          </a:p>
        </p:txBody>
      </p:sp>
      <p:sp>
        <p:nvSpPr>
          <p:cNvPr id="15" name="tag-425.6-424"/>
          <p:cNvSpPr/>
          <p:nvPr/>
        </p:nvSpPr>
        <p:spPr>
          <a:xfrm>
            <a:off x="5410200" y="5384800"/>
            <a:ext cx="14351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6" name="tag-t-425.6-424"/>
          <p:cNvSpPr txBox="1"/>
          <p:nvPr/>
        </p:nvSpPr>
        <p:spPr>
          <a:xfrm>
            <a:off x="5410200" y="5384800"/>
            <a:ext cx="1435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Boundary Mask</a:t>
            </a:r>
            <a:endParaRPr lang="en-US" sz="1050"/>
          </a:p>
        </p:txBody>
      </p:sp>
      <p:sp>
        <p:nvSpPr>
          <p:cNvPr id="17" name="tag-550.8000000000001-424"/>
          <p:cNvSpPr/>
          <p:nvPr/>
        </p:nvSpPr>
        <p:spPr>
          <a:xfrm>
            <a:off x="6997700" y="5384800"/>
            <a:ext cx="1765300" cy="304800"/>
          </a:xfrm>
          <a:prstGeom prst="roundRect">
            <a:avLst>
              <a:gd name="adj" fmla="val 50000"/>
            </a:avLst>
          </a:prstGeom>
          <a:solidFill>
            <a:srgbClr val="0D2231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18" name="tag-t-550.8000000000001-424"/>
          <p:cNvSpPr txBox="1"/>
          <p:nvPr/>
        </p:nvSpPr>
        <p:spPr>
          <a:xfrm>
            <a:off x="6997700" y="5384800"/>
            <a:ext cx="17653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00B8D9"/>
                </a:solidFill>
                <a:latin typeface="MiSans"/>
                <a:ea typeface="MiSans"/>
              </a:rPr>
              <a:t>Region Extraction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gradFill rotWithShape="1">
          <a:gsLst>
            <a:gs pos="0">
              <a:srgbClr val="0B1020"/>
            </a:gs>
            <a:gs pos="100000">
              <a:srgbClr val="08111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-dot"/>
          <p:cNvSpPr/>
          <p:nvPr/>
        </p:nvSpPr>
        <p:spPr>
          <a:xfrm>
            <a:off x="609600" y="508000"/>
            <a:ext cx="76200" cy="76200"/>
          </a:xfrm>
          <a:prstGeom prst="rect">
            <a:avLst/>
          </a:prstGeom>
          <a:solidFill>
            <a:srgbClr val="00B8D9"/>
          </a:solidFill>
          <a:ln>
            <a:noFill/>
          </a:ln>
        </p:spPr>
      </p:sp>
      <p:sp>
        <p:nvSpPr>
          <p:cNvPr id="3" name="overline"/>
          <p:cNvSpPr txBox="1"/>
          <p:nvPr/>
        </p:nvSpPr>
        <p:spPr>
          <a:xfrm>
            <a:off x="787400" y="457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spc="250" kern="0">
                <a:solidFill>
                  <a:srgbClr val="00B8D9"/>
                </a:solidFill>
                <a:latin typeface="MiSans"/>
                <a:ea typeface="MiSans"/>
              </a:rPr>
              <a:t>PROGRESS &amp; OUTLOOK</a:t>
            </a:r>
            <a:endParaRPr lang="en-US" sz="1000"/>
          </a:p>
        </p:txBody>
      </p:sp>
      <p:sp>
        <p:nvSpPr>
          <p:cNvPr id="4" name="h1"/>
          <p:cNvSpPr txBox="1"/>
          <p:nvPr/>
        </p:nvSpPr>
        <p:spPr>
          <a:xfrm>
            <a:off x="609600" y="685800"/>
            <a:ext cx="990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500" b="1">
                <a:solidFill>
                  <a:srgbClr val="F3F4F6"/>
                </a:solidFill>
                <a:latin typeface="MiSans"/>
                <a:ea typeface="MiSans"/>
              </a:rPr>
              <a:t>当前进展：从图像识别走向 SEM 正演建模</a:t>
            </a:r>
            <a:endParaRPr lang="en-US" sz="2500"/>
          </a:p>
        </p:txBody>
      </p:sp>
      <p:sp>
        <p:nvSpPr>
          <p:cNvPr id="5" name="lead"/>
          <p:cNvSpPr txBox="1"/>
          <p:nvPr/>
        </p:nvSpPr>
        <p:spPr>
          <a:xfrm>
            <a:off x="609600" y="1143000"/>
            <a:ext cx="1054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CA3AF"/>
                </a:solidFill>
                <a:latin typeface="MiSans"/>
                <a:ea typeface="MiSans"/>
              </a:rPr>
              <a:t>已打通「文献图 → 分区识别」关键环节，下一步接入 SPECFEM 形成闭环。</a:t>
            </a:r>
            <a:endParaRPr lang="en-US" sz="1300"/>
          </a:p>
        </p:txBody>
      </p:sp>
      <p:sp>
        <p:nvSpPr>
          <p:cNvPr id="6" name="hd-rule"/>
          <p:cNvSpPr/>
          <p:nvPr/>
        </p:nvSpPr>
        <p:spPr>
          <a:xfrm>
            <a:off x="609600" y="1473200"/>
            <a:ext cx="10972800" cy="127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7" name="pageno"/>
          <p:cNvSpPr txBox="1"/>
          <p:nvPr/>
        </p:nvSpPr>
        <p:spPr>
          <a:xfrm>
            <a:off x="10820400" y="457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>
                <a:solidFill>
                  <a:srgbClr val="5B6B84"/>
                </a:solidFill>
                <a:latin typeface="MiSans"/>
                <a:ea typeface="MiSans"/>
              </a:rPr>
              <a:t>09 / 09</a:t>
            </a:r>
            <a:endParaRPr lang="en-US" sz="950"/>
          </a:p>
        </p:txBody>
      </p:sp>
      <p:sp>
        <p:nvSpPr>
          <p:cNvPr id="8" name="cap-head"/>
          <p:cNvSpPr txBox="1"/>
          <p:nvPr/>
        </p:nvSpPr>
        <p:spPr>
          <a:xfrm>
            <a:off x="914400" y="1600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150" kern="0">
                <a:solidFill>
                  <a:srgbClr val="9CA3AF"/>
                </a:solidFill>
                <a:latin typeface="MiSans"/>
                <a:ea typeface="MiSans"/>
              </a:rPr>
              <a:t>当前已实现 · CAPABILITIES</a:t>
            </a:r>
            <a:endParaRPr lang="en-US" sz="1200"/>
          </a:p>
        </p:txBody>
      </p:sp>
      <p:sp>
        <p:nvSpPr>
          <p:cNvPr id="9" name="cap-ic-0"/>
          <p:cNvSpPr/>
          <p:nvPr>
            <p:extLst>
              <p:ext uri="{F5677B7D-0D2A-4D9B-9A5C-6D8D7D0E5A5D}">
                <pptd:icon encoding="base64url">eyJpY29uTmFtZSI6ImZhczppbWFnZSJ9</pptd:icon>
              </p:ext>
            </p:extLst>
          </p:nvPr>
        </p:nvSpPr>
        <p:spPr>
          <a:xfrm>
            <a:off x="914400" y="1905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0" name="cap-t-0"/>
          <p:cNvSpPr txBox="1"/>
          <p:nvPr/>
        </p:nvSpPr>
        <p:spPr>
          <a:xfrm>
            <a:off x="1422400" y="18923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3F4F6"/>
                </a:solidFill>
                <a:latin typeface="MiSans"/>
                <a:ea typeface="MiSans"/>
              </a:rPr>
              <a:t>图像输入</a:t>
            </a:r>
            <a:endParaRPr lang="en-US" sz="1400"/>
          </a:p>
        </p:txBody>
      </p:sp>
      <p:sp>
        <p:nvSpPr>
          <p:cNvPr id="11" name="cap-d-0"/>
          <p:cNvSpPr txBox="1"/>
          <p:nvPr/>
        </p:nvSpPr>
        <p:spPr>
          <a:xfrm>
            <a:off x="2921000" y="19431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文献图 / 截图直接输入</a:t>
            </a:r>
            <a:endParaRPr lang="en-US" sz="1050"/>
          </a:p>
        </p:txBody>
      </p:sp>
      <p:sp>
        <p:nvSpPr>
          <p:cNvPr id="12" name="cap-ic-1"/>
          <p:cNvSpPr/>
          <p:nvPr>
            <p:extLst>
              <p:ext uri="{F5677B7D-0D2A-4D9B-9A5C-6D8D7D0E5A5D}">
                <pptd:icon encoding="base64url">eyJpY29uTmFtZSI6ImZhczpjcm9zc2hhaXJzIn0</pptd:icon>
              </p:ext>
            </p:extLst>
          </p:nvPr>
        </p:nvSpPr>
        <p:spPr>
          <a:xfrm>
            <a:off x="914400" y="2692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16"/>
                </a:moveTo>
                <a:cubicBezTo>
                  <a:pt x="306" y="-16"/>
                  <a:pt x="320" y="-2"/>
                  <a:pt x="320" y="16"/>
                </a:cubicBezTo>
                <a:lnTo>
                  <a:pt x="320" y="34"/>
                </a:lnTo>
                <a:cubicBezTo>
                  <a:pt x="418" y="48"/>
                  <a:pt x="496" y="126"/>
                  <a:pt x="510" y="224"/>
                </a:cubicBezTo>
                <a:lnTo>
                  <a:pt x="528" y="224"/>
                </a:lnTo>
                <a:cubicBezTo>
                  <a:pt x="546" y="224"/>
                  <a:pt x="560" y="238"/>
                  <a:pt x="560" y="256"/>
                </a:cubicBezTo>
                <a:cubicBezTo>
                  <a:pt x="560" y="274"/>
                  <a:pt x="546" y="288"/>
                  <a:pt x="528" y="288"/>
                </a:cubicBezTo>
                <a:lnTo>
                  <a:pt x="510" y="288"/>
                </a:lnTo>
                <a:cubicBezTo>
                  <a:pt x="496" y="386"/>
                  <a:pt x="418" y="464"/>
                  <a:pt x="320" y="478"/>
                </a:cubicBezTo>
                <a:lnTo>
                  <a:pt x="320" y="496"/>
                </a:lnTo>
                <a:cubicBezTo>
                  <a:pt x="320" y="514"/>
                  <a:pt x="306" y="528"/>
                  <a:pt x="288" y="528"/>
                </a:cubicBezTo>
                <a:cubicBezTo>
                  <a:pt x="270" y="528"/>
                  <a:pt x="256" y="514"/>
                  <a:pt x="256" y="496"/>
                </a:cubicBezTo>
                <a:lnTo>
                  <a:pt x="256" y="478"/>
                </a:lnTo>
                <a:cubicBezTo>
                  <a:pt x="158" y="464"/>
                  <a:pt x="80" y="386"/>
                  <a:pt x="66" y="288"/>
                </a:cubicBezTo>
                <a:lnTo>
                  <a:pt x="48" y="288"/>
                </a:lnTo>
                <a:cubicBezTo>
                  <a:pt x="30" y="288"/>
                  <a:pt x="16" y="274"/>
                  <a:pt x="16" y="256"/>
                </a:cubicBezTo>
                <a:cubicBezTo>
                  <a:pt x="16" y="238"/>
                  <a:pt x="30" y="224"/>
                  <a:pt x="48" y="224"/>
                </a:cubicBezTo>
                <a:lnTo>
                  <a:pt x="66" y="224"/>
                </a:lnTo>
                <a:cubicBezTo>
                  <a:pt x="80" y="126"/>
                  <a:pt x="158" y="48"/>
                  <a:pt x="256" y="34"/>
                </a:cubicBezTo>
                <a:lnTo>
                  <a:pt x="256" y="16"/>
                </a:lnTo>
                <a:cubicBezTo>
                  <a:pt x="256" y="-2"/>
                  <a:pt x="270" y="-16"/>
                  <a:pt x="288" y="-16"/>
                </a:cubicBezTo>
                <a:close/>
                <a:moveTo>
                  <a:pt x="131" y="288"/>
                </a:moveTo>
                <a:cubicBezTo>
                  <a:pt x="144" y="351"/>
                  <a:pt x="193" y="400"/>
                  <a:pt x="256" y="413"/>
                </a:cubicBezTo>
                <a:lnTo>
                  <a:pt x="256" y="400"/>
                </a:lnTo>
                <a:cubicBezTo>
                  <a:pt x="256" y="382"/>
                  <a:pt x="270" y="368"/>
                  <a:pt x="288" y="368"/>
                </a:cubicBezTo>
                <a:cubicBezTo>
                  <a:pt x="306" y="368"/>
                  <a:pt x="320" y="382"/>
                  <a:pt x="320" y="400"/>
                </a:cubicBezTo>
                <a:lnTo>
                  <a:pt x="320" y="413"/>
                </a:lnTo>
                <a:cubicBezTo>
                  <a:pt x="383" y="400"/>
                  <a:pt x="432" y="351"/>
                  <a:pt x="445" y="288"/>
                </a:cubicBezTo>
                <a:lnTo>
                  <a:pt x="432" y="288"/>
                </a:lnTo>
                <a:cubicBezTo>
                  <a:pt x="414" y="288"/>
                  <a:pt x="400" y="274"/>
                  <a:pt x="400" y="256"/>
                </a:cubicBezTo>
                <a:cubicBezTo>
                  <a:pt x="400" y="238"/>
                  <a:pt x="414" y="224"/>
                  <a:pt x="432" y="224"/>
                </a:cubicBezTo>
                <a:lnTo>
                  <a:pt x="445" y="224"/>
                </a:lnTo>
                <a:cubicBezTo>
                  <a:pt x="432" y="161"/>
                  <a:pt x="383" y="112"/>
                  <a:pt x="320" y="99"/>
                </a:cubicBezTo>
                <a:lnTo>
                  <a:pt x="320" y="112"/>
                </a:lnTo>
                <a:cubicBezTo>
                  <a:pt x="320" y="130"/>
                  <a:pt x="306" y="144"/>
                  <a:pt x="288" y="144"/>
                </a:cubicBezTo>
                <a:cubicBezTo>
                  <a:pt x="270" y="144"/>
                  <a:pt x="256" y="130"/>
                  <a:pt x="256" y="112"/>
                </a:cubicBezTo>
                <a:lnTo>
                  <a:pt x="256" y="99"/>
                </a:lnTo>
                <a:cubicBezTo>
                  <a:pt x="193" y="112"/>
                  <a:pt x="144" y="161"/>
                  <a:pt x="131" y="224"/>
                </a:cubicBezTo>
                <a:lnTo>
                  <a:pt x="144" y="224"/>
                </a:lnTo>
                <a:cubicBezTo>
                  <a:pt x="162" y="224"/>
                  <a:pt x="176" y="238"/>
                  <a:pt x="176" y="256"/>
                </a:cubicBezTo>
                <a:cubicBezTo>
                  <a:pt x="176" y="274"/>
                  <a:pt x="162" y="288"/>
                  <a:pt x="144" y="288"/>
                </a:cubicBezTo>
                <a:lnTo>
                  <a:pt x="131" y="288"/>
                </a:lnTo>
                <a:close/>
              </a:path>
              <a:path w="576" h="512">
                <a:moveTo>
                  <a:pt x="288" y="208"/>
                </a:moveTo>
                <a:cubicBezTo>
                  <a:pt x="315" y="208"/>
                  <a:pt x="336" y="229"/>
                  <a:pt x="336" y="256"/>
                </a:cubicBezTo>
                <a:cubicBezTo>
                  <a:pt x="336" y="283"/>
                  <a:pt x="315" y="304"/>
                  <a:pt x="288" y="304"/>
                </a:cubicBezTo>
                <a:cubicBezTo>
                  <a:pt x="261" y="304"/>
                  <a:pt x="240" y="283"/>
                  <a:pt x="240" y="256"/>
                </a:cubicBezTo>
                <a:cubicBezTo>
                  <a:pt x="240" y="229"/>
                  <a:pt x="261" y="208"/>
                  <a:pt x="288" y="208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3" name="cap-t-1"/>
          <p:cNvSpPr txBox="1"/>
          <p:nvPr/>
        </p:nvSpPr>
        <p:spPr>
          <a:xfrm>
            <a:off x="1422400" y="26797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3F4F6"/>
                </a:solidFill>
                <a:latin typeface="MiSans"/>
                <a:ea typeface="MiSans"/>
              </a:rPr>
              <a:t>目标检测</a:t>
            </a:r>
            <a:endParaRPr lang="en-US" sz="1400"/>
          </a:p>
        </p:txBody>
      </p:sp>
      <p:sp>
        <p:nvSpPr>
          <p:cNvPr id="14" name="cap-d-1"/>
          <p:cNvSpPr txBox="1"/>
          <p:nvPr/>
        </p:nvSpPr>
        <p:spPr>
          <a:xfrm>
            <a:off x="2921000" y="27305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有效面板与颜色条识别</a:t>
            </a:r>
            <a:endParaRPr lang="en-US" sz="1050"/>
          </a:p>
        </p:txBody>
      </p:sp>
      <p:sp>
        <p:nvSpPr>
          <p:cNvPr id="15" name="cap-ic-2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914400" y="3479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6" name="cap-t-2"/>
          <p:cNvSpPr txBox="1"/>
          <p:nvPr/>
        </p:nvSpPr>
        <p:spPr>
          <a:xfrm>
            <a:off x="1422400" y="34671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3F4F6"/>
                </a:solidFill>
                <a:latin typeface="MiSans"/>
                <a:ea typeface="MiSans"/>
              </a:rPr>
              <a:t>分区识别</a:t>
            </a:r>
            <a:endParaRPr lang="en-US" sz="1400"/>
          </a:p>
        </p:txBody>
      </p:sp>
      <p:sp>
        <p:nvSpPr>
          <p:cNvPr id="17" name="cap-d-2"/>
          <p:cNvSpPr txBox="1"/>
          <p:nvPr/>
        </p:nvSpPr>
        <p:spPr>
          <a:xfrm>
            <a:off x="2921000" y="35179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颜色聚类 + 边界引导</a:t>
            </a:r>
            <a:endParaRPr lang="en-US" sz="1050"/>
          </a:p>
        </p:txBody>
      </p:sp>
      <p:sp>
        <p:nvSpPr>
          <p:cNvPr id="18" name="cap-ic-3"/>
          <p:cNvSpPr/>
          <p:nvPr>
            <p:extLst>
              <p:ext uri="{F5677B7D-0D2A-4D9B-9A5C-6D8D7D0E5A5D}">
                <pptd:icon encoding="base64url">eyJpY29uTmFtZSI6ImZhczpleWUifQ</pptd:icon>
              </p:ext>
            </p:extLst>
          </p:nvPr>
        </p:nvSpPr>
        <p:spPr>
          <a:xfrm>
            <a:off x="914400" y="4267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32"/>
                </a:moveTo>
                <a:cubicBezTo>
                  <a:pt x="207" y="32"/>
                  <a:pt x="143" y="69"/>
                  <a:pt x="95" y="113"/>
                </a:cubicBezTo>
                <a:cubicBezTo>
                  <a:pt x="49" y="156"/>
                  <a:pt x="17" y="208"/>
                  <a:pt x="2" y="244"/>
                </a:cubicBezTo>
                <a:cubicBezTo>
                  <a:pt x="-1" y="252"/>
                  <a:pt x="-1" y="260"/>
                  <a:pt x="2" y="268"/>
                </a:cubicBezTo>
                <a:cubicBezTo>
                  <a:pt x="17" y="304"/>
                  <a:pt x="49" y="356"/>
                  <a:pt x="95" y="399"/>
                </a:cubicBezTo>
                <a:cubicBezTo>
                  <a:pt x="143" y="443"/>
                  <a:pt x="207" y="480"/>
                  <a:pt x="288" y="480"/>
                </a:cubicBezTo>
                <a:cubicBezTo>
                  <a:pt x="369" y="480"/>
                  <a:pt x="434" y="443"/>
                  <a:pt x="481" y="399"/>
                </a:cubicBezTo>
                <a:cubicBezTo>
                  <a:pt x="527" y="356"/>
                  <a:pt x="559" y="304"/>
                  <a:pt x="574" y="268"/>
                </a:cubicBezTo>
                <a:cubicBezTo>
                  <a:pt x="577" y="260"/>
                  <a:pt x="577" y="252"/>
                  <a:pt x="574" y="244"/>
                </a:cubicBezTo>
                <a:cubicBezTo>
                  <a:pt x="559" y="208"/>
                  <a:pt x="527" y="156"/>
                  <a:pt x="481" y="113"/>
                </a:cubicBezTo>
                <a:cubicBezTo>
                  <a:pt x="434" y="69"/>
                  <a:pt x="369" y="32"/>
                  <a:pt x="288" y="32"/>
                </a:cubicBezTo>
                <a:close/>
                <a:moveTo>
                  <a:pt x="144" y="256"/>
                </a:moveTo>
                <a:cubicBezTo>
                  <a:pt x="144" y="176"/>
                  <a:pt x="208" y="112"/>
                  <a:pt x="288" y="112"/>
                </a:cubicBezTo>
                <a:cubicBezTo>
                  <a:pt x="368" y="112"/>
                  <a:pt x="432" y="176"/>
                  <a:pt x="432" y="256"/>
                </a:cubicBezTo>
                <a:cubicBezTo>
                  <a:pt x="432" y="336"/>
                  <a:pt x="368" y="400"/>
                  <a:pt x="288" y="400"/>
                </a:cubicBezTo>
                <a:cubicBezTo>
                  <a:pt x="208" y="400"/>
                  <a:pt x="144" y="336"/>
                  <a:pt x="144" y="256"/>
                </a:cubicBezTo>
                <a:close/>
              </a:path>
              <a:path w="576" h="512">
                <a:moveTo>
                  <a:pt x="288" y="192"/>
                </a:moveTo>
                <a:cubicBezTo>
                  <a:pt x="288" y="227"/>
                  <a:pt x="259" y="256"/>
                  <a:pt x="224" y="256"/>
                </a:cubicBezTo>
                <a:cubicBezTo>
                  <a:pt x="213" y="256"/>
                  <a:pt x="202" y="253"/>
                  <a:pt x="192" y="248"/>
                </a:cubicBezTo>
                <a:cubicBezTo>
                  <a:pt x="191" y="259"/>
                  <a:pt x="192" y="270"/>
                  <a:pt x="195" y="281"/>
                </a:cubicBezTo>
                <a:cubicBezTo>
                  <a:pt x="209" y="332"/>
                  <a:pt x="262" y="362"/>
                  <a:pt x="313" y="349"/>
                </a:cubicBezTo>
                <a:cubicBezTo>
                  <a:pt x="364" y="335"/>
                  <a:pt x="394" y="282"/>
                  <a:pt x="381" y="231"/>
                </a:cubicBezTo>
                <a:cubicBezTo>
                  <a:pt x="369" y="185"/>
                  <a:pt x="325" y="156"/>
                  <a:pt x="280" y="160"/>
                </a:cubicBezTo>
                <a:cubicBezTo>
                  <a:pt x="285" y="170"/>
                  <a:pt x="288" y="180"/>
                  <a:pt x="288" y="192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19" name="cap-t-3"/>
          <p:cNvSpPr txBox="1"/>
          <p:nvPr/>
        </p:nvSpPr>
        <p:spPr>
          <a:xfrm>
            <a:off x="1422400" y="4254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3F4F6"/>
                </a:solidFill>
                <a:latin typeface="MiSans"/>
                <a:ea typeface="MiSans"/>
              </a:rPr>
              <a:t>结果审查</a:t>
            </a:r>
            <a:endParaRPr lang="en-US" sz="1400"/>
          </a:p>
        </p:txBody>
      </p:sp>
      <p:sp>
        <p:nvSpPr>
          <p:cNvPr id="20" name="cap-d-3"/>
          <p:cNvSpPr txBox="1"/>
          <p:nvPr/>
        </p:nvSpPr>
        <p:spPr>
          <a:xfrm>
            <a:off x="2921000" y="43053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overlay 对比与质量评估</a:t>
            </a:r>
            <a:endParaRPr lang="en-US" sz="1050"/>
          </a:p>
        </p:txBody>
      </p:sp>
      <p:sp>
        <p:nvSpPr>
          <p:cNvPr id="21" name="cap-ic-4"/>
          <p:cNvSpPr/>
          <p:nvPr>
            <p:extLst>
              <p:ext uri="{F5677B7D-0D2A-4D9B-9A5C-6D8D7D0E5A5D}">
                <pptd:icon encoding="base64url">eyJpY29uTmFtZSI6ImZhczpmaWxlLWV4cG9ydCJ9</pptd:icon>
              </p:ext>
            </p:extLst>
          </p:nvPr>
        </p:nvSpPr>
        <p:spPr>
          <a:xfrm>
            <a:off x="914400" y="5054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7" y="0"/>
                </a:moveTo>
                <a:cubicBezTo>
                  <a:pt x="61" y="0"/>
                  <a:pt x="33" y="29"/>
                  <a:pt x="33" y="64"/>
                </a:cubicBezTo>
                <a:lnTo>
                  <a:pt x="33" y="448"/>
                </a:lnTo>
                <a:cubicBezTo>
                  <a:pt x="33" y="483"/>
                  <a:pt x="61" y="512"/>
                  <a:pt x="97" y="512"/>
                </a:cubicBezTo>
                <a:lnTo>
                  <a:pt x="353" y="512"/>
                </a:lnTo>
                <a:cubicBezTo>
                  <a:pt x="388" y="512"/>
                  <a:pt x="417" y="483"/>
                  <a:pt x="417" y="448"/>
                </a:cubicBezTo>
                <a:lnTo>
                  <a:pt x="417" y="352"/>
                </a:lnTo>
                <a:lnTo>
                  <a:pt x="495" y="352"/>
                </a:lnTo>
                <a:lnTo>
                  <a:pt x="464" y="383"/>
                </a:lnTo>
                <a:cubicBezTo>
                  <a:pt x="454" y="392"/>
                  <a:pt x="454" y="408"/>
                  <a:pt x="464" y="417"/>
                </a:cubicBezTo>
                <a:cubicBezTo>
                  <a:pt x="473" y="426"/>
                  <a:pt x="488" y="426"/>
                  <a:pt x="498" y="417"/>
                </a:cubicBezTo>
                <a:lnTo>
                  <a:pt x="570" y="345"/>
                </a:lnTo>
                <a:cubicBezTo>
                  <a:pt x="579" y="336"/>
                  <a:pt x="579" y="320"/>
                  <a:pt x="570" y="311"/>
                </a:cubicBezTo>
                <a:lnTo>
                  <a:pt x="498" y="239"/>
                </a:lnTo>
                <a:cubicBezTo>
                  <a:pt x="488" y="230"/>
                  <a:pt x="473" y="230"/>
                  <a:pt x="464" y="239"/>
                </a:cubicBezTo>
                <a:cubicBezTo>
                  <a:pt x="454" y="248"/>
                  <a:pt x="454" y="264"/>
                  <a:pt x="464" y="273"/>
                </a:cubicBezTo>
                <a:lnTo>
                  <a:pt x="495" y="304"/>
                </a:lnTo>
                <a:lnTo>
                  <a:pt x="417" y="304"/>
                </a:lnTo>
                <a:lnTo>
                  <a:pt x="417" y="170"/>
                </a:lnTo>
                <a:cubicBezTo>
                  <a:pt x="417" y="153"/>
                  <a:pt x="410" y="137"/>
                  <a:pt x="398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7" y="0"/>
                </a:lnTo>
                <a:close/>
                <a:moveTo>
                  <a:pt x="358" y="176"/>
                </a:moveTo>
                <a:lnTo>
                  <a:pt x="265" y="176"/>
                </a:lnTo>
                <a:cubicBezTo>
                  <a:pt x="251" y="176"/>
                  <a:pt x="241" y="165"/>
                  <a:pt x="241" y="152"/>
                </a:cubicBezTo>
                <a:lnTo>
                  <a:pt x="241" y="59"/>
                </a:lnTo>
                <a:lnTo>
                  <a:pt x="358" y="176"/>
                </a:lnTo>
                <a:close/>
                <a:moveTo>
                  <a:pt x="225" y="328"/>
                </a:moveTo>
                <a:cubicBezTo>
                  <a:pt x="225" y="315"/>
                  <a:pt x="235" y="304"/>
                  <a:pt x="249" y="304"/>
                </a:cubicBezTo>
                <a:lnTo>
                  <a:pt x="353" y="304"/>
                </a:lnTo>
                <a:lnTo>
                  <a:pt x="353" y="352"/>
                </a:lnTo>
                <a:lnTo>
                  <a:pt x="249" y="352"/>
                </a:lnTo>
                <a:cubicBezTo>
                  <a:pt x="235" y="352"/>
                  <a:pt x="225" y="341"/>
                  <a:pt x="225" y="328"/>
                </a:cubicBez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22" name="cap-t-4"/>
          <p:cNvSpPr txBox="1"/>
          <p:nvPr/>
        </p:nvSpPr>
        <p:spPr>
          <a:xfrm>
            <a:off x="1422400" y="50419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3F4F6"/>
                </a:solidFill>
                <a:latin typeface="MiSans"/>
                <a:ea typeface="MiSans"/>
              </a:rPr>
              <a:t>模型导出</a:t>
            </a:r>
            <a:endParaRPr lang="en-US" sz="1400"/>
          </a:p>
        </p:txBody>
      </p:sp>
      <p:sp>
        <p:nvSpPr>
          <p:cNvPr id="23" name="cap-d-4"/>
          <p:cNvSpPr txBox="1"/>
          <p:nvPr/>
        </p:nvSpPr>
        <p:spPr>
          <a:xfrm>
            <a:off x="2921000" y="50927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9CA3AF"/>
                </a:solidFill>
                <a:latin typeface="MiSans"/>
                <a:ea typeface="MiSans"/>
              </a:rPr>
              <a:t>分区边界与材料区域</a:t>
            </a:r>
            <a:endParaRPr lang="en-US" sz="1050"/>
          </a:p>
        </p:txBody>
      </p:sp>
      <p:sp>
        <p:nvSpPr>
          <p:cNvPr id="24" name="flow-head"/>
          <p:cNvSpPr txBox="1"/>
          <p:nvPr/>
        </p:nvSpPr>
        <p:spPr>
          <a:xfrm>
            <a:off x="7188200" y="16002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b="1" spc="150" kern="0">
                <a:solidFill>
                  <a:srgbClr val="9CA3AF"/>
                </a:solidFill>
                <a:latin typeface="MiSans"/>
                <a:ea typeface="MiSans"/>
              </a:rPr>
              <a:t>后续闭环 · ROADMAP</a:t>
            </a:r>
            <a:endParaRPr lang="en-US" sz="1200"/>
          </a:p>
        </p:txBody>
      </p:sp>
      <p:sp>
        <p:nvSpPr>
          <p:cNvPr id="25" name="fl-0"/>
          <p:cNvSpPr/>
          <p:nvPr/>
        </p:nvSpPr>
        <p:spPr>
          <a:xfrm>
            <a:off x="7188200" y="1854200"/>
            <a:ext cx="4064000" cy="508000"/>
          </a:xfrm>
          <a:prstGeom prst="roundRect">
            <a:avLst>
              <a:gd name="adj" fmla="val 16000"/>
            </a:avLst>
          </a:prstGeom>
          <a:solidFill>
            <a:srgbClr val="101B2C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26" name="fl-n-0"/>
          <p:cNvSpPr txBox="1"/>
          <p:nvPr/>
        </p:nvSpPr>
        <p:spPr>
          <a:xfrm>
            <a:off x="7416800" y="1854200"/>
            <a:ext cx="43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5B6B84"/>
                </a:solidFill>
                <a:latin typeface="MiSans"/>
                <a:ea typeface="MiSans"/>
              </a:rPr>
              <a:t>01</a:t>
            </a:r>
            <a:endParaRPr lang="en-US" sz="1200"/>
          </a:p>
        </p:txBody>
      </p:sp>
      <p:sp>
        <p:nvSpPr>
          <p:cNvPr id="27" name="fl-t-0"/>
          <p:cNvSpPr txBox="1"/>
          <p:nvPr/>
        </p:nvSpPr>
        <p:spPr>
          <a:xfrm>
            <a:off x="7874000" y="1854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b="1">
                <a:solidFill>
                  <a:srgbClr val="00B8D9"/>
                </a:solidFill>
                <a:latin typeface="MiSans"/>
                <a:ea typeface="MiSans"/>
              </a:rPr>
              <a:t>识别分区</a:t>
            </a:r>
            <a:endParaRPr lang="en-US" sz="1450"/>
          </a:p>
        </p:txBody>
      </p:sp>
      <p:sp>
        <p:nvSpPr>
          <p:cNvPr id="28" name="fl-ar-0"/>
          <p:cNvSpPr/>
          <p:nvPr>
            <p:extLst>
              <p:ext uri="{F5677B7D-0D2A-4D9B-9A5C-6D8D7D0E5A5D}">
                <pptd:icon encoding="base64url">eyJpY29uTmFtZSI6ImZhczphbmdsZS1kb3duIn0</pptd:icon>
              </p:ext>
            </p:extLst>
          </p:nvPr>
        </p:nvSpPr>
        <p:spPr>
          <a:xfrm>
            <a:off x="9118600" y="24130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29" name="fl-1"/>
          <p:cNvSpPr/>
          <p:nvPr/>
        </p:nvSpPr>
        <p:spPr>
          <a:xfrm>
            <a:off x="7188200" y="2667000"/>
            <a:ext cx="4064000" cy="508000"/>
          </a:xfrm>
          <a:prstGeom prst="roundRect">
            <a:avLst>
              <a:gd name="adj" fmla="val 16000"/>
            </a:avLst>
          </a:prstGeom>
          <a:solidFill>
            <a:srgbClr val="101B2C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30" name="fl-n-1"/>
          <p:cNvSpPr txBox="1"/>
          <p:nvPr/>
        </p:nvSpPr>
        <p:spPr>
          <a:xfrm>
            <a:off x="7416800" y="2667000"/>
            <a:ext cx="43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5B6B84"/>
                </a:solidFill>
                <a:latin typeface="MiSans"/>
                <a:ea typeface="MiSans"/>
              </a:rPr>
              <a:t>02</a:t>
            </a:r>
            <a:endParaRPr lang="en-US" sz="1200"/>
          </a:p>
        </p:txBody>
      </p:sp>
      <p:sp>
        <p:nvSpPr>
          <p:cNvPr id="31" name="fl-t-1"/>
          <p:cNvSpPr txBox="1"/>
          <p:nvPr/>
        </p:nvSpPr>
        <p:spPr>
          <a:xfrm>
            <a:off x="7874000" y="26670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b="1">
                <a:solidFill>
                  <a:srgbClr val="00B8D9"/>
                </a:solidFill>
                <a:latin typeface="MiSans"/>
                <a:ea typeface="MiSans"/>
              </a:rPr>
              <a:t>多边形化</a:t>
            </a:r>
            <a:endParaRPr lang="en-US" sz="1450"/>
          </a:p>
        </p:txBody>
      </p:sp>
      <p:sp>
        <p:nvSpPr>
          <p:cNvPr id="32" name="fl-ar-1"/>
          <p:cNvSpPr/>
          <p:nvPr>
            <p:extLst>
              <p:ext uri="{F5677B7D-0D2A-4D9B-9A5C-6D8D7D0E5A5D}">
                <pptd:icon encoding="base64url">eyJpY29uTmFtZSI6ImZhczphbmdsZS1kb3duIn0</pptd:icon>
              </p:ext>
            </p:extLst>
          </p:nvPr>
        </p:nvSpPr>
        <p:spPr>
          <a:xfrm>
            <a:off x="9118600" y="32258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33" name="fl-2"/>
          <p:cNvSpPr/>
          <p:nvPr/>
        </p:nvSpPr>
        <p:spPr>
          <a:xfrm>
            <a:off x="7188200" y="3479800"/>
            <a:ext cx="4064000" cy="508000"/>
          </a:xfrm>
          <a:prstGeom prst="roundRect">
            <a:avLst>
              <a:gd name="adj" fmla="val 16000"/>
            </a:avLst>
          </a:prstGeom>
          <a:solidFill>
            <a:srgbClr val="101B2C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34" name="fl-n-2"/>
          <p:cNvSpPr txBox="1"/>
          <p:nvPr/>
        </p:nvSpPr>
        <p:spPr>
          <a:xfrm>
            <a:off x="7416800" y="3479800"/>
            <a:ext cx="43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5B6B84"/>
                </a:solidFill>
                <a:latin typeface="MiSans"/>
                <a:ea typeface="MiSans"/>
              </a:rPr>
              <a:t>03</a:t>
            </a:r>
            <a:endParaRPr lang="en-US" sz="1200"/>
          </a:p>
        </p:txBody>
      </p:sp>
      <p:sp>
        <p:nvSpPr>
          <p:cNvPr id="35" name="fl-t-2"/>
          <p:cNvSpPr txBox="1"/>
          <p:nvPr/>
        </p:nvSpPr>
        <p:spPr>
          <a:xfrm>
            <a:off x="7874000" y="34798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b="1">
                <a:solidFill>
                  <a:srgbClr val="00B8D9"/>
                </a:solidFill>
                <a:latin typeface="MiSans"/>
                <a:ea typeface="MiSans"/>
              </a:rPr>
              <a:t>参数赋值</a:t>
            </a:r>
            <a:endParaRPr lang="en-US" sz="1450"/>
          </a:p>
        </p:txBody>
      </p:sp>
      <p:sp>
        <p:nvSpPr>
          <p:cNvPr id="36" name="fl-ar-2"/>
          <p:cNvSpPr/>
          <p:nvPr>
            <p:extLst>
              <p:ext uri="{F5677B7D-0D2A-4D9B-9A5C-6D8D7D0E5A5D}">
                <pptd:icon encoding="base64url">eyJpY29uTmFtZSI6ImZhczphbmdsZS1kb3duIn0</pptd:icon>
              </p:ext>
            </p:extLst>
          </p:nvPr>
        </p:nvSpPr>
        <p:spPr>
          <a:xfrm>
            <a:off x="9118600" y="40386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37" name="fl-3"/>
          <p:cNvSpPr/>
          <p:nvPr/>
        </p:nvSpPr>
        <p:spPr>
          <a:xfrm>
            <a:off x="7188200" y="4292600"/>
            <a:ext cx="4064000" cy="508000"/>
          </a:xfrm>
          <a:prstGeom prst="roundRect">
            <a:avLst>
              <a:gd name="adj" fmla="val 16000"/>
            </a:avLst>
          </a:prstGeom>
          <a:solidFill>
            <a:srgbClr val="101B2C"/>
          </a:solidFill>
          <a:ln w="12700">
            <a:solidFill>
              <a:srgbClr val="00B8D9">
                <a:alpha val="33333"/>
              </a:srgbClr>
            </a:solidFill>
          </a:ln>
        </p:spPr>
      </p:sp>
      <p:sp>
        <p:nvSpPr>
          <p:cNvPr id="38" name="fl-n-3"/>
          <p:cNvSpPr txBox="1"/>
          <p:nvPr/>
        </p:nvSpPr>
        <p:spPr>
          <a:xfrm>
            <a:off x="7416800" y="4292600"/>
            <a:ext cx="43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5B6B84"/>
                </a:solidFill>
                <a:latin typeface="MiSans"/>
                <a:ea typeface="MiSans"/>
              </a:rPr>
              <a:t>04</a:t>
            </a:r>
            <a:endParaRPr lang="en-US" sz="1200"/>
          </a:p>
        </p:txBody>
      </p:sp>
      <p:sp>
        <p:nvSpPr>
          <p:cNvPr id="39" name="fl-t-3"/>
          <p:cNvSpPr txBox="1"/>
          <p:nvPr/>
        </p:nvSpPr>
        <p:spPr>
          <a:xfrm>
            <a:off x="7874000" y="42926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b="1">
                <a:solidFill>
                  <a:srgbClr val="00B8D9"/>
                </a:solidFill>
                <a:latin typeface="MiSans"/>
                <a:ea typeface="MiSans"/>
              </a:rPr>
              <a:t>SPECFEM</a:t>
            </a:r>
            <a:endParaRPr lang="en-US" sz="1450"/>
          </a:p>
        </p:txBody>
      </p:sp>
      <p:sp>
        <p:nvSpPr>
          <p:cNvPr id="40" name="fl-ar-3"/>
          <p:cNvSpPr/>
          <p:nvPr>
            <p:extLst>
              <p:ext uri="{F5677B7D-0D2A-4D9B-9A5C-6D8D7D0E5A5D}">
                <pptd:icon encoding="base64url">eyJpY29uTmFtZSI6ImZhczphbmdsZS1kb3duIn0</pptd:icon>
              </p:ext>
            </p:extLst>
          </p:nvPr>
        </p:nvSpPr>
        <p:spPr>
          <a:xfrm>
            <a:off x="9118600" y="4851400"/>
            <a:ext cx="2032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00B8D9"/>
          </a:solidFill>
          <a:ln>
            <a:noFill/>
          </a:ln>
        </p:spPr>
      </p:sp>
      <p:sp>
        <p:nvSpPr>
          <p:cNvPr id="41" name="fl-4"/>
          <p:cNvSpPr/>
          <p:nvPr/>
        </p:nvSpPr>
        <p:spPr>
          <a:xfrm>
            <a:off x="7188200" y="5105400"/>
            <a:ext cx="4064000" cy="508000"/>
          </a:xfrm>
          <a:prstGeom prst="roundRect">
            <a:avLst>
              <a:gd name="adj" fmla="val 16000"/>
            </a:avLst>
          </a:prstGeom>
          <a:solidFill>
            <a:srgbClr val="2A2108"/>
          </a:solidFill>
          <a:ln w="12700">
            <a:solidFill>
              <a:srgbClr val="FFB000">
                <a:alpha val="53333"/>
              </a:srgbClr>
            </a:solidFill>
          </a:ln>
        </p:spPr>
      </p:sp>
      <p:sp>
        <p:nvSpPr>
          <p:cNvPr id="42" name="fl-n-4"/>
          <p:cNvSpPr txBox="1"/>
          <p:nvPr/>
        </p:nvSpPr>
        <p:spPr>
          <a:xfrm>
            <a:off x="7416800" y="5105400"/>
            <a:ext cx="43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5B6B84"/>
                </a:solidFill>
                <a:latin typeface="MiSans"/>
                <a:ea typeface="MiSans"/>
              </a:rPr>
              <a:t>05</a:t>
            </a:r>
            <a:endParaRPr lang="en-US" sz="1200"/>
          </a:p>
        </p:txBody>
      </p:sp>
      <p:sp>
        <p:nvSpPr>
          <p:cNvPr id="43" name="fl-t-4"/>
          <p:cNvSpPr txBox="1"/>
          <p:nvPr/>
        </p:nvSpPr>
        <p:spPr>
          <a:xfrm>
            <a:off x="7874000" y="51054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b="1">
                <a:solidFill>
                  <a:srgbClr val="FFB000"/>
                </a:solidFill>
                <a:latin typeface="MiSans"/>
                <a:ea typeface="MiSans"/>
              </a:rPr>
              <a:t>SEM 正演</a:t>
            </a:r>
            <a:endParaRPr lang="en-US" sz="1450"/>
          </a:p>
        </p:txBody>
      </p:sp>
      <p:sp>
        <p:nvSpPr>
          <p:cNvPr id="44" name="v-rule"/>
          <p:cNvSpPr/>
          <p:nvPr/>
        </p:nvSpPr>
        <p:spPr>
          <a:xfrm>
            <a:off x="6451600" y="1778000"/>
            <a:ext cx="12700" cy="4191000"/>
          </a:xfrm>
          <a:prstGeom prst="rect">
            <a:avLst/>
          </a:prstGeom>
          <a:solidFill>
            <a:srgbClr val="1A2740"/>
          </a:solidFill>
          <a:ln>
            <a:noFill/>
          </a:ln>
        </p:spPr>
      </p:sp>
      <p:sp>
        <p:nvSpPr>
          <p:cNvPr id="45" name="goal-box"/>
          <p:cNvSpPr/>
          <p:nvPr/>
        </p:nvSpPr>
        <p:spPr>
          <a:xfrm>
            <a:off x="609600" y="614680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0D2231"/>
          </a:solidFill>
          <a:ln w="12700">
            <a:solidFill>
              <a:srgbClr val="FFB000">
                <a:alpha val="40000"/>
              </a:srgbClr>
            </a:solidFill>
          </a:ln>
        </p:spPr>
      </p:sp>
      <p:sp>
        <p:nvSpPr>
          <p:cNvPr id="46" name="goal-text"/>
          <p:cNvSpPr txBox="1"/>
          <p:nvPr/>
        </p:nvSpPr>
        <p:spPr>
          <a:xfrm>
            <a:off x="609600" y="6146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E5E7EB"/>
                </a:solidFill>
                <a:latin typeface="MiSans"/>
                <a:ea typeface="MiSans"/>
              </a:rPr>
              <a:t>目标：将前人地球物理图像成果转化为</a:t>
            </a:r>
            <a:r>
              <a:rPr lang="en-US" sz="1300" b="1">
                <a:solidFill>
                  <a:srgbClr val="FFB000"/>
                </a:solidFill>
                <a:latin typeface="MiSans"/>
                <a:ea typeface="MiSans"/>
              </a:rPr>
              <a:t>可复用、可计算、可正演</a:t>
            </a:r>
            <a:r>
              <a:rPr lang="en-US" sz="1300">
                <a:solidFill>
                  <a:srgbClr val="E5E7EB"/>
                </a:solidFill>
                <a:latin typeface="MiSans"/>
                <a:ea typeface="MiSans"/>
              </a:rPr>
              <a:t>的速度结构模型。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9</Slides>
</Properties>
</file>

<file path=docProps/core.xml><?xml version="1.0" encoding="utf-8"?>
<cp:coreProperties xmlns:cp="http://schemas.openxmlformats.org/package/2006/metadata/core-properties" xmlns:dc="http://purl.org/dc/elements/1.1/">
  <dc:title>智能体驱动的地球物理图像识别与速度分区提取</dc:title>
  <dc:subject>智能体驱动的地球物理图像识别与速度分区提取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智能体驱动的地球物理图像识别与速度分区提取","ContentProducer":"001191110108MACG2KBH8F10000","ProduceID":"19f6bf21-54c2-8824-8000-00008debc6ff","ReservedCode1":"","ContentPropagator":"001191110108MACG2KBH8F20000","PropagateID":"19f6bcc6-2cb2-86ad-8000-098ed5ec1ff8","ReservedCode2":""}</vt:lpwstr>
  </property>
</Properties>
</file>