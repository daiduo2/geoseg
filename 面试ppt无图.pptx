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71" r:id="rId7"/>
    <p:sldId id="268" r:id="rId8"/>
    <p:sldId id="269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6CF9E7-B126-9FA8-459F-F92386035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BC3B7CF-AF55-E62C-C44F-BDA7D7E1EB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7A3021-9452-FAB1-1D88-0C2AB8FEF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EBE2-66A2-42D3-8ECF-BA3ECF229F37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CC9D4D-A220-D0DA-B505-66AB9662D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FE190C-03FD-496A-0079-A4512F666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3E15E-7136-49CA-B3EC-39E33F2A54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673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A35EC2-FEAE-7198-6CCF-CA9F652D0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BD34F7-FD2D-8DE1-285D-CD5079D5D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AE5980-B845-5589-6372-3E618756C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EBE2-66A2-42D3-8ECF-BA3ECF229F37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62B8A8-4890-0A53-0890-1AB08EBF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0BBEE7-242D-DE4F-B33C-DF925EBBF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3E15E-7136-49CA-B3EC-39E33F2A54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864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F1CE51-C220-8059-301C-250C9226B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916CB9-CBCD-ACA5-ADFE-008BF1DF1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E21A59-D214-93DB-BB41-AB1A49E3E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EBE2-66A2-42D3-8ECF-BA3ECF229F37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0B04EC-8130-88AB-A66F-D557CAE2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D230E6-1698-EE71-7DC2-571EE31B5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3E15E-7136-49CA-B3EC-39E33F2A54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636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BEB8FC-CF30-7A5F-9C15-06588E261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AC0FCF-C965-5DEA-7C3F-83B070EA01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F028D5-45E1-548E-B7ED-5162AF7B2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21277E-E969-9F24-B1B5-2DDAB07FC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EBE2-66A2-42D3-8ECF-BA3ECF229F37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A3E941-FDCB-1C6C-06D6-A0C2765ED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75BC37-96A8-C4F2-64ED-64C0C353E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3E15E-7136-49CA-B3EC-39E33F2A54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316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EAB53A-ECDD-46D6-8D8D-65FAE386C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21971A-C3AC-0D80-C262-6F86191DE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88635E-F58A-807E-669E-13745F43D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6469853-1E6B-71CF-0F0D-B35658C850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5D1C777-2E24-316B-4F54-F2A048B564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91C9E15-D044-25CF-5341-79BA5034D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EBE2-66A2-42D3-8ECF-BA3ECF229F37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47C6FEE-58FD-6729-E97D-51490EEC2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1AB348F-70F0-17BF-85C5-8D9D72AD1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3E15E-7136-49CA-B3EC-39E33F2A54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668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93F6A-06D1-FFE9-649B-1ED497F79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A1B3FDA-6C65-A7AF-954C-C5B1DDBC1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EBE2-66A2-42D3-8ECF-BA3ECF229F37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36A5F50-B1B8-5057-228B-31D8FC0A0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5030E5E-6926-9C94-30B0-8778D6B4C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3E15E-7136-49CA-B3EC-39E33F2A54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2054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8FCAEA0-486D-AAA1-43B1-168482536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EBE2-66A2-42D3-8ECF-BA3ECF229F37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16DA344-4487-04B8-1F1B-40234DA8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734B22-1D44-8FC0-50BA-FD50804C0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3E15E-7136-49CA-B3EC-39E33F2A54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0770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47C0ED-07BE-CA5B-20B0-BB92A4FF1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FB7C1A-BE2E-0F02-E998-E96E8FF3E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AF8BF9A-A099-059E-1061-4B519A483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06C26D-2F5D-504C-C6D5-3FFCCE19E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EBE2-66A2-42D3-8ECF-BA3ECF229F37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091063-C96E-C937-7F38-5D3C362F5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338A43-BDE0-A0DE-4E9A-BB41FFCAC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3E15E-7136-49CA-B3EC-39E33F2A54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916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ABE36A-9A9F-276A-0619-5C4BC421D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1D8FA62-D3F8-B914-574E-381D3F2594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C89DD7-2BB1-CC56-28EF-77F893F5F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EE16BE-DB03-F3CC-BC57-566CCB71D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EBE2-66A2-42D3-8ECF-BA3ECF229F37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A9D854-A7EE-0D85-7DC0-E5A204558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0F45DF-2607-C7BF-2A52-28296B17F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3E15E-7136-49CA-B3EC-39E33F2A54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6633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EEE20F-44EE-657B-EED7-1774DBAAB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DF69E2-A828-9BB3-9FD1-624E151B6A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EF6219-D70B-E6DF-0441-92F1BF225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EBE2-66A2-42D3-8ECF-BA3ECF229F37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F2AB46-A821-6E07-4297-E699E2963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708BB6-26D3-F262-63A1-E70196936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3E15E-7136-49CA-B3EC-39E33F2A54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8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44ED8E3-9448-B425-9019-DD82CC908A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499F87-3C2D-2DF7-4177-1709D60CF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2BC931-38E3-A21E-D5DA-23A47186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EBE2-66A2-42D3-8ECF-BA3ECF229F37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7CC854-FA17-7663-8AB2-EABDCE0F9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31557A-BDE9-310C-B08A-DE0125A84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3E15E-7136-49CA-B3EC-39E33F2A54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381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5767590-9CC7-18D3-EA78-B508A6799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36C0F7-5BC9-3824-5BC4-309DE4BD7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132961-E47E-4396-6A72-5EA6CFCBF0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EEBE2-66A2-42D3-8ECF-BA3ECF229F37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4A77C7-429D-C405-2B4E-B6E80797B9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9CDD02-B1C5-80A5-635D-156901BE7F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3E15E-7136-49CA-B3EC-39E33F2A54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761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EA882CE-0BAA-DC0B-CA00-C6387C67BAF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03324" y="1069837"/>
            <a:ext cx="110947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中国科学院</a:t>
            </a:r>
            <a:br>
              <a:rPr lang="en-US" altLang="zh-CN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r>
              <a:rPr lang="zh-CN" altLang="en-US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精密测量研究院复试</a:t>
            </a:r>
            <a:endParaRPr lang="zh-CN" altLang="en-US" sz="18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1290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00FF56A-36BF-4E14-170B-E402C3EC70AA}"/>
              </a:ext>
            </a:extLst>
          </p:cNvPr>
          <p:cNvSpPr txBox="1"/>
          <p:nvPr/>
        </p:nvSpPr>
        <p:spPr>
          <a:xfrm>
            <a:off x="375607" y="320572"/>
            <a:ext cx="3795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目录</a:t>
            </a:r>
            <a:endParaRPr lang="zh-CN" altLang="en-US" sz="36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AAAB16A-30B2-FFEF-2477-BC3250745E17}"/>
              </a:ext>
            </a:extLst>
          </p:cNvPr>
          <p:cNvSpPr txBox="1"/>
          <p:nvPr/>
        </p:nvSpPr>
        <p:spPr>
          <a:xfrm>
            <a:off x="732222" y="2219476"/>
            <a:ext cx="4516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学习经历与报考背景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912E6BC-1DD5-1F44-0D07-BAE39C3F4E6D}"/>
              </a:ext>
            </a:extLst>
          </p:cNvPr>
          <p:cNvSpPr txBox="1"/>
          <p:nvPr/>
        </p:nvSpPr>
        <p:spPr>
          <a:xfrm>
            <a:off x="732222" y="2911973"/>
            <a:ext cx="4516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本科核心课程与基础训练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2EE747C-98CE-3DE2-B36B-AACF2E5B1FA0}"/>
              </a:ext>
            </a:extLst>
          </p:cNvPr>
          <p:cNvSpPr txBox="1"/>
          <p:nvPr/>
        </p:nvSpPr>
        <p:spPr>
          <a:xfrm>
            <a:off x="732222" y="3604471"/>
            <a:ext cx="4516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毕业设计简介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D69135A-9775-49B6-DF13-0BC528EB89AD}"/>
              </a:ext>
            </a:extLst>
          </p:cNvPr>
          <p:cNvSpPr txBox="1"/>
          <p:nvPr/>
        </p:nvSpPr>
        <p:spPr>
          <a:xfrm>
            <a:off x="732222" y="4296969"/>
            <a:ext cx="4516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科技训练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E63B67B-2EA1-D551-E42E-7D9AFAB2FEAA}"/>
              </a:ext>
            </a:extLst>
          </p:cNvPr>
          <p:cNvSpPr txBox="1"/>
          <p:nvPr/>
        </p:nvSpPr>
        <p:spPr>
          <a:xfrm>
            <a:off x="732222" y="4989467"/>
            <a:ext cx="4516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对专业的想法及读研计划</a:t>
            </a:r>
          </a:p>
        </p:txBody>
      </p:sp>
    </p:spTree>
    <p:extLst>
      <p:ext uri="{BB962C8B-B14F-4D97-AF65-F5344CB8AC3E}">
        <p14:creationId xmlns:p14="http://schemas.microsoft.com/office/powerpoint/2010/main" val="189991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D6D0C-D40E-BA6E-D99F-0C15C0E54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EAAC14F-E1D3-8F8F-33D9-60C811B2AFCC}"/>
              </a:ext>
            </a:extLst>
          </p:cNvPr>
          <p:cNvSpPr txBox="1"/>
          <p:nvPr/>
        </p:nvSpPr>
        <p:spPr>
          <a:xfrm>
            <a:off x="375607" y="320572"/>
            <a:ext cx="4927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学习经历与报考背景</a:t>
            </a:r>
            <a:endParaRPr lang="zh-CN" altLang="en-US" sz="36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E54F03F-839C-E5D1-48D5-D0AAC91B262E}"/>
              </a:ext>
            </a:extLst>
          </p:cNvPr>
          <p:cNvSpPr txBox="1"/>
          <p:nvPr/>
        </p:nvSpPr>
        <p:spPr>
          <a:xfrm>
            <a:off x="412183" y="2050188"/>
            <a:ext cx="5083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2018.09——2021.07 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云南师范大学附属中学</a:t>
            </a:r>
            <a:endParaRPr lang="zh-CN" altLang="en-US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46E041-B03E-B5B7-F0A0-740A91A0D651}"/>
              </a:ext>
            </a:extLst>
          </p:cNvPr>
          <p:cNvSpPr txBox="1"/>
          <p:nvPr/>
        </p:nvSpPr>
        <p:spPr>
          <a:xfrm>
            <a:off x="412182" y="2517505"/>
            <a:ext cx="5083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2021.09——2025.07 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中国农业大学 工学院 机械设计制造及其自动化专业 机器人装备方向</a:t>
            </a:r>
            <a:endParaRPr lang="zh-CN" altLang="en-US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29D6A4A-2CC7-DEBC-7B73-5830288EBBB6}"/>
              </a:ext>
            </a:extLst>
          </p:cNvPr>
          <p:cNvSpPr txBox="1"/>
          <p:nvPr/>
        </p:nvSpPr>
        <p:spPr>
          <a:xfrm>
            <a:off x="382163" y="1421045"/>
            <a:ext cx="2278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学习经历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44C6D0C-53EB-CD9D-EE02-700B740B4773}"/>
              </a:ext>
            </a:extLst>
          </p:cNvPr>
          <p:cNvSpPr txBox="1"/>
          <p:nvPr/>
        </p:nvSpPr>
        <p:spPr>
          <a:xfrm>
            <a:off x="375607" y="3182124"/>
            <a:ext cx="50833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本科培养体系以机械、控制以及工程实践为主</a:t>
            </a:r>
            <a:endParaRPr lang="zh-CN" altLang="en-US" sz="14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850ADA4-6C04-E46C-75B2-286ED3A26892}"/>
              </a:ext>
            </a:extLst>
          </p:cNvPr>
          <p:cNvSpPr txBox="1"/>
          <p:nvPr/>
        </p:nvSpPr>
        <p:spPr>
          <a:xfrm>
            <a:off x="494478" y="3737222"/>
            <a:ext cx="2278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报考背景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A10FA38-C39B-0A87-096B-D119CFCC5AC8}"/>
              </a:ext>
            </a:extLst>
          </p:cNvPr>
          <p:cNvSpPr txBox="1"/>
          <p:nvPr/>
        </p:nvSpPr>
        <p:spPr>
          <a:xfrm>
            <a:off x="494478" y="4296872"/>
            <a:ext cx="5787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一志愿报考单位：中国科学院数学与系统科学研究院</a:t>
            </a:r>
            <a:endParaRPr lang="zh-CN" altLang="en-US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6B2EC66-80B7-1EEC-D71E-7D8EDB633F20}"/>
              </a:ext>
            </a:extLst>
          </p:cNvPr>
          <p:cNvSpPr txBox="1"/>
          <p:nvPr/>
        </p:nvSpPr>
        <p:spPr>
          <a:xfrm>
            <a:off x="519323" y="4764189"/>
            <a:ext cx="5787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一志愿报考专业：基础数学</a:t>
            </a:r>
            <a:endParaRPr lang="zh-CN" altLang="en-US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5E2D1A-7892-3DA1-922C-672E2143EA63}"/>
              </a:ext>
            </a:extLst>
          </p:cNvPr>
          <p:cNvSpPr txBox="1"/>
          <p:nvPr/>
        </p:nvSpPr>
        <p:spPr>
          <a:xfrm>
            <a:off x="519323" y="5258938"/>
            <a:ext cx="5787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初始分数：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563E7101-9BE7-CEB3-401C-3B1C057CE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2467"/>
              </p:ext>
            </p:extLst>
          </p:nvPr>
        </p:nvGraphicFramePr>
        <p:xfrm>
          <a:off x="1903984" y="5276043"/>
          <a:ext cx="8128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721346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604937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6015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459123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政治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英语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数学分析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高等代数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260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55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华文中宋" panose="02010600040101010101" pitchFamily="2" charset="-122"/>
                        <a:ea typeface="华文中宋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65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华文中宋" panose="02010600040101010101" pitchFamily="2" charset="-122"/>
                        <a:ea typeface="华文中宋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73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华文中宋" panose="02010600040101010101" pitchFamily="2" charset="-122"/>
                        <a:ea typeface="华文中宋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92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华文中宋" panose="02010600040101010101" pitchFamily="2" charset="-122"/>
                        <a:ea typeface="华文中宋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671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4419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A3294-23EA-4084-3788-35BBE67D6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8707B78-C29B-68D2-4C5A-6F221961E899}"/>
              </a:ext>
            </a:extLst>
          </p:cNvPr>
          <p:cNvSpPr txBox="1"/>
          <p:nvPr/>
        </p:nvSpPr>
        <p:spPr>
          <a:xfrm>
            <a:off x="375607" y="320572"/>
            <a:ext cx="4205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本科核心课程与基础训练</a:t>
            </a:r>
            <a:endParaRPr lang="zh-CN" altLang="en-US" sz="28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8D2956F-FB79-0FFB-6B67-5470A31BF6F5}"/>
              </a:ext>
            </a:extLst>
          </p:cNvPr>
          <p:cNvSpPr txBox="1"/>
          <p:nvPr/>
        </p:nvSpPr>
        <p:spPr>
          <a:xfrm>
            <a:off x="375607" y="1155869"/>
            <a:ext cx="2278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数理基础课程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B26386-384D-2B16-056E-41B46027441E}"/>
              </a:ext>
            </a:extLst>
          </p:cNvPr>
          <p:cNvSpPr txBox="1"/>
          <p:nvPr/>
        </p:nvSpPr>
        <p:spPr>
          <a:xfrm>
            <a:off x="375607" y="3849350"/>
            <a:ext cx="2278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专业必修课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BDD7CDC-06D1-1D50-D1F2-C8914A8B06DE}"/>
              </a:ext>
            </a:extLst>
          </p:cNvPr>
          <p:cNvSpPr txBox="1"/>
          <p:nvPr/>
        </p:nvSpPr>
        <p:spPr>
          <a:xfrm>
            <a:off x="5650991" y="1762948"/>
            <a:ext cx="5083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CET4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504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CET6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438</a:t>
            </a:r>
            <a:endParaRPr lang="zh-CN" altLang="en-US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8953757-11A2-9117-B882-80F69130A886}"/>
              </a:ext>
            </a:extLst>
          </p:cNvPr>
          <p:cNvSpPr txBox="1"/>
          <p:nvPr/>
        </p:nvSpPr>
        <p:spPr>
          <a:xfrm>
            <a:off x="5650991" y="2110771"/>
            <a:ext cx="5683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第十六届全国大学生数学竞赛（非数学组</a:t>
            </a:r>
            <a:r>
              <a:rPr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A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类）一等奖</a:t>
            </a:r>
            <a:endParaRPr lang="zh-CN" altLang="en-US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46F595E-0C6C-92A2-07C0-FD7B4841E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204464"/>
              </p:ext>
            </p:extLst>
          </p:nvPr>
        </p:nvGraphicFramePr>
        <p:xfrm>
          <a:off x="303784" y="1881051"/>
          <a:ext cx="4432808" cy="158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6404">
                  <a:extLst>
                    <a:ext uri="{9D8B030D-6E8A-4147-A177-3AD203B41FA5}">
                      <a16:colId xmlns:a16="http://schemas.microsoft.com/office/drawing/2014/main" val="4290559044"/>
                    </a:ext>
                  </a:extLst>
                </a:gridCol>
                <a:gridCol w="2216404">
                  <a:extLst>
                    <a:ext uri="{9D8B030D-6E8A-4147-A177-3AD203B41FA5}">
                      <a16:colId xmlns:a16="http://schemas.microsoft.com/office/drawing/2014/main" val="3399431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高等数学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B-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473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线性代数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C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477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概率论与数理统计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C+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632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计算方法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A-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981523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12D53149-E653-C5BE-4497-2BB28D778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339749"/>
              </p:ext>
            </p:extLst>
          </p:nvPr>
        </p:nvGraphicFramePr>
        <p:xfrm>
          <a:off x="303784" y="4503270"/>
          <a:ext cx="4432808" cy="158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6404">
                  <a:extLst>
                    <a:ext uri="{9D8B030D-6E8A-4147-A177-3AD203B41FA5}">
                      <a16:colId xmlns:a16="http://schemas.microsoft.com/office/drawing/2014/main" val="4290559044"/>
                    </a:ext>
                  </a:extLst>
                </a:gridCol>
                <a:gridCol w="2216404">
                  <a:extLst>
                    <a:ext uri="{9D8B030D-6E8A-4147-A177-3AD203B41FA5}">
                      <a16:colId xmlns:a16="http://schemas.microsoft.com/office/drawing/2014/main" val="3399431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控制工程基础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A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473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机器人技术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A-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477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工程测试技术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B+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632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精密制造原理及应用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n-cs"/>
                        </a:rPr>
                        <a:t>A-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981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6246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89B60-D412-953F-DBE1-96094DFBD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F2BD43C-C9F0-0089-7B38-69B80EA50558}"/>
              </a:ext>
            </a:extLst>
          </p:cNvPr>
          <p:cNvSpPr txBox="1"/>
          <p:nvPr/>
        </p:nvSpPr>
        <p:spPr>
          <a:xfrm>
            <a:off x="375607" y="320572"/>
            <a:ext cx="3795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毕业设计简介</a:t>
            </a:r>
            <a:endParaRPr lang="zh-CN" altLang="en-US" sz="28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6C97B6-558B-1C72-38FB-C2D01E13FE59}"/>
              </a:ext>
            </a:extLst>
          </p:cNvPr>
          <p:cNvSpPr txBox="1"/>
          <p:nvPr/>
        </p:nvSpPr>
        <p:spPr>
          <a:xfrm>
            <a:off x="375607" y="1448896"/>
            <a:ext cx="7457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研究意义：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本设计旨在提出一套</a:t>
            </a:r>
            <a:r>
              <a:rPr lang="zh-CN" altLang="en-US" sz="16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无人化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智慧巡检方案，通过</a:t>
            </a:r>
            <a:r>
              <a:rPr lang="zh-CN" altLang="en-US" sz="16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自主导航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zh-CN" altLang="en-US" sz="16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视觉识别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等技术助力养牛场智能化转型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B0FAD8-444F-FFB7-77B1-E771F655B83E}"/>
              </a:ext>
            </a:extLst>
          </p:cNvPr>
          <p:cNvSpPr txBox="1"/>
          <p:nvPr/>
        </p:nvSpPr>
        <p:spPr>
          <a:xfrm>
            <a:off x="375607" y="1107872"/>
            <a:ext cx="7457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研究背景：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养牛场</a:t>
            </a:r>
            <a:r>
              <a:rPr lang="zh-CN" altLang="en-US" sz="16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智慧化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转型需求迫切，人工巡检效率低、强度高、成本高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A510B01-9DF5-6176-C896-E7B07C8B452E}"/>
              </a:ext>
            </a:extLst>
          </p:cNvPr>
          <p:cNvSpPr txBox="1"/>
          <p:nvPr/>
        </p:nvSpPr>
        <p:spPr>
          <a:xfrm>
            <a:off x="375607" y="2095227"/>
            <a:ext cx="7457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研究内容：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轮式机器人自主导航算法</a:t>
            </a:r>
            <a:r>
              <a: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+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奶牛个体识别算法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C7B2253-AD96-5E2F-467B-109A3E4D28A0}"/>
              </a:ext>
            </a:extLst>
          </p:cNvPr>
          <p:cNvSpPr txBox="1"/>
          <p:nvPr/>
        </p:nvSpPr>
        <p:spPr>
          <a:xfrm>
            <a:off x="375607" y="2682472"/>
            <a:ext cx="7457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轮式机器人自主导航算法设计</a:t>
            </a:r>
            <a:endParaRPr lang="zh-CN" altLang="en-US" sz="1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0602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D8AAA-DF50-9CB8-2563-B76EB9E97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CD079F7-0DE0-8569-1339-71243CFB7C13}"/>
              </a:ext>
            </a:extLst>
          </p:cNvPr>
          <p:cNvSpPr txBox="1"/>
          <p:nvPr/>
        </p:nvSpPr>
        <p:spPr>
          <a:xfrm>
            <a:off x="375607" y="320572"/>
            <a:ext cx="3795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毕业设计简介</a:t>
            </a:r>
            <a:endParaRPr lang="zh-CN" altLang="en-US" sz="28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1C55963-EED6-925E-7CFD-736FFA53A4CB}"/>
              </a:ext>
            </a:extLst>
          </p:cNvPr>
          <p:cNvSpPr txBox="1"/>
          <p:nvPr/>
        </p:nvSpPr>
        <p:spPr>
          <a:xfrm>
            <a:off x="375607" y="1448896"/>
            <a:ext cx="7457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研究意义：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本设计旨在提出一套</a:t>
            </a:r>
            <a:r>
              <a:rPr lang="zh-CN" altLang="en-US" sz="16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无人化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智慧巡检方案，通过</a:t>
            </a:r>
            <a:r>
              <a:rPr lang="zh-CN" altLang="en-US" sz="16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自主导航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zh-CN" altLang="en-US" sz="16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视觉识别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等技术助力养牛场智能化转型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6F00DB7-347A-5ED8-E6CA-F4FF45C0A802}"/>
              </a:ext>
            </a:extLst>
          </p:cNvPr>
          <p:cNvSpPr txBox="1"/>
          <p:nvPr/>
        </p:nvSpPr>
        <p:spPr>
          <a:xfrm>
            <a:off x="375607" y="1107872"/>
            <a:ext cx="7457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研究背景：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养牛场</a:t>
            </a:r>
            <a:r>
              <a:rPr lang="zh-CN" altLang="en-US" sz="16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智慧化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转型需求迫切，人工巡检效率低、强度高、成本高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B354FC-706F-BB5A-1D82-5C57C189C66F}"/>
              </a:ext>
            </a:extLst>
          </p:cNvPr>
          <p:cNvSpPr txBox="1"/>
          <p:nvPr/>
        </p:nvSpPr>
        <p:spPr>
          <a:xfrm>
            <a:off x="375607" y="2095227"/>
            <a:ext cx="7457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研究内容：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轮式机器人自主导航算法</a:t>
            </a:r>
            <a:r>
              <a: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+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奶牛个体识别算法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684B890-E6FF-EB97-2859-E0633F2E0578}"/>
              </a:ext>
            </a:extLst>
          </p:cNvPr>
          <p:cNvSpPr txBox="1"/>
          <p:nvPr/>
        </p:nvSpPr>
        <p:spPr>
          <a:xfrm>
            <a:off x="375607" y="2682472"/>
            <a:ext cx="7457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奶牛个体识别算法设计</a:t>
            </a:r>
            <a:endParaRPr lang="zh-CN" altLang="en-US" sz="1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9053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A279D-E207-A009-1F47-F7175D325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C3C16B9-298E-7409-5DBA-199C9CE952F1}"/>
              </a:ext>
            </a:extLst>
          </p:cNvPr>
          <p:cNvSpPr txBox="1"/>
          <p:nvPr/>
        </p:nvSpPr>
        <p:spPr>
          <a:xfrm>
            <a:off x="375607" y="320572"/>
            <a:ext cx="3795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科技训练及实践经历</a:t>
            </a:r>
            <a:endParaRPr lang="zh-CN" altLang="en-US" sz="28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276EB2-9524-9569-B20E-DC72EF878514}"/>
              </a:ext>
            </a:extLst>
          </p:cNvPr>
          <p:cNvSpPr txBox="1"/>
          <p:nvPr/>
        </p:nvSpPr>
        <p:spPr>
          <a:xfrm>
            <a:off x="375607" y="1107872"/>
            <a:ext cx="18189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实践经历</a:t>
            </a:r>
            <a:endParaRPr lang="zh-CN" alt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A9114F3-C1F3-BB80-C899-0357B0BF2D88}"/>
              </a:ext>
            </a:extLst>
          </p:cNvPr>
          <p:cNvSpPr txBox="1"/>
          <p:nvPr/>
        </p:nvSpPr>
        <p:spPr>
          <a:xfrm>
            <a:off x="375607" y="1507982"/>
            <a:ext cx="46810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2023 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年</a:t>
            </a:r>
            <a:r>
              <a: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3 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月作为负责人主持“鲜切花产业助力乡村振兴”中国农业大学</a:t>
            </a:r>
            <a:r>
              <a: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2023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年暑期社会实践“绿野新征程，实践促振兴”一院一品项目。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67974AD-F59D-E2C6-70AD-4093BB44C0E6}"/>
              </a:ext>
            </a:extLst>
          </p:cNvPr>
          <p:cNvSpPr txBox="1"/>
          <p:nvPr/>
        </p:nvSpPr>
        <p:spPr>
          <a:xfrm>
            <a:off x="375607" y="2739089"/>
            <a:ext cx="18189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科技训练</a:t>
            </a:r>
            <a:endParaRPr lang="zh-CN" alt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64A4DCD-FA98-8C24-C2FC-49F7BDC5F852}"/>
              </a:ext>
            </a:extLst>
          </p:cNvPr>
          <p:cNvSpPr txBox="1"/>
          <p:nvPr/>
        </p:nvSpPr>
        <p:spPr>
          <a:xfrm>
            <a:off x="375607" y="3230639"/>
            <a:ext cx="6235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2024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年申请计算机软件著作权：</a:t>
            </a:r>
            <a:r>
              <a: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《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基于深度学习的鲜切花分级系统</a:t>
            </a:r>
            <a:r>
              <a: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》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（登记号：</a:t>
            </a:r>
            <a:r>
              <a: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2024SR1770070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E986724-FE88-F3DD-DD1E-33E1AD940770}"/>
              </a:ext>
            </a:extLst>
          </p:cNvPr>
          <p:cNvSpPr txBox="1"/>
          <p:nvPr/>
        </p:nvSpPr>
        <p:spPr>
          <a:xfrm>
            <a:off x="375607" y="3815414"/>
            <a:ext cx="6464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2025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年申请计算机软件著作权：</a:t>
            </a:r>
            <a:r>
              <a: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《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巡检机器人行驶路线远程定位系统</a:t>
            </a:r>
            <a:r>
              <a: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》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（登记号：</a:t>
            </a:r>
            <a:r>
              <a: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2025SR0683856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C765C56-3299-856C-C045-3998DE9A764A}"/>
              </a:ext>
            </a:extLst>
          </p:cNvPr>
          <p:cNvSpPr txBox="1"/>
          <p:nvPr/>
        </p:nvSpPr>
        <p:spPr>
          <a:xfrm>
            <a:off x="375607" y="4681647"/>
            <a:ext cx="7272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2024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年</a:t>
            </a:r>
            <a:r>
              <a: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12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月加入中国科学院大学他山学科交叉创新协会 </a:t>
            </a:r>
            <a:r>
              <a: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Agent4S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开源项目组</a:t>
            </a:r>
            <a:endParaRPr lang="en-US" altLang="zh-CN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深度参与</a:t>
            </a:r>
            <a:r>
              <a: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Tashan </a:t>
            </a:r>
            <a:r>
              <a:rPr lang="en-US" altLang="zh-CN" sz="1600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Scispark</a:t>
            </a:r>
            <a:r>
              <a: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Academic Trend Monitor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等项目的设计和构建</a:t>
            </a:r>
          </a:p>
        </p:txBody>
      </p:sp>
    </p:spTree>
    <p:extLst>
      <p:ext uri="{BB962C8B-B14F-4D97-AF65-F5344CB8AC3E}">
        <p14:creationId xmlns:p14="http://schemas.microsoft.com/office/powerpoint/2010/main" val="2827690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C8234-8222-7305-1C84-C38789A60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43789256-8FA7-BAA2-029E-8FA0D691AC21}"/>
              </a:ext>
            </a:extLst>
          </p:cNvPr>
          <p:cNvSpPr/>
          <p:nvPr/>
        </p:nvSpPr>
        <p:spPr>
          <a:xfrm>
            <a:off x="8443418" y="2399021"/>
            <a:ext cx="3462645" cy="44589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0486AB6-9E1F-6304-7384-84A070104687}"/>
              </a:ext>
            </a:extLst>
          </p:cNvPr>
          <p:cNvSpPr/>
          <p:nvPr/>
        </p:nvSpPr>
        <p:spPr>
          <a:xfrm>
            <a:off x="4980773" y="2399021"/>
            <a:ext cx="3462645" cy="44589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6E123D-77A3-7A33-A209-5080C789A687}"/>
              </a:ext>
            </a:extLst>
          </p:cNvPr>
          <p:cNvSpPr txBox="1"/>
          <p:nvPr/>
        </p:nvSpPr>
        <p:spPr>
          <a:xfrm>
            <a:off x="375607" y="320572"/>
            <a:ext cx="43792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读研计划</a:t>
            </a:r>
            <a:endParaRPr lang="zh-CN" altLang="en-US" sz="28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3FBA43-0417-09B2-FE1E-70089A36C427}"/>
              </a:ext>
            </a:extLst>
          </p:cNvPr>
          <p:cNvSpPr txBox="1"/>
          <p:nvPr/>
        </p:nvSpPr>
        <p:spPr>
          <a:xfrm>
            <a:off x="375607" y="1091861"/>
            <a:ext cx="4050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研修意向方向：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分析学</a:t>
            </a:r>
            <a:endParaRPr lang="zh-CN" altLang="en-US" sz="24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7EB6076-DEC7-041F-6152-3650B4B26596}"/>
              </a:ext>
            </a:extLst>
          </p:cNvPr>
          <p:cNvSpPr txBox="1"/>
          <p:nvPr/>
        </p:nvSpPr>
        <p:spPr>
          <a:xfrm>
            <a:off x="375607" y="1801595"/>
            <a:ext cx="4050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研修规划</a:t>
            </a:r>
            <a:endParaRPr lang="zh-CN" altLang="en-US" sz="24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FBFEDC1-737E-94F8-1329-215E5B2AA872}"/>
              </a:ext>
            </a:extLst>
          </p:cNvPr>
          <p:cNvGrpSpPr/>
          <p:nvPr/>
        </p:nvGrpSpPr>
        <p:grpSpPr>
          <a:xfrm>
            <a:off x="2241902" y="3337355"/>
            <a:ext cx="2183794" cy="384457"/>
            <a:chOff x="984714" y="3044543"/>
            <a:chExt cx="2183794" cy="38445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95D4C3E1-75FA-E799-A68C-9967FC69DFFC}"/>
                    </a:ext>
                  </a:extLst>
                </p:cNvPr>
                <p:cNvSpPr txBox="1"/>
                <p:nvPr/>
              </p:nvSpPr>
              <p:spPr>
                <a:xfrm>
                  <a:off x="1049556" y="3067495"/>
                  <a:ext cx="211895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zh-CN" altLang="en-US" sz="1600" i="1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补齐</m:t>
                      </m:r>
                    </m:oMath>
                  </a14:m>
                  <a:r>
                    <a:rPr lang="zh-CN" altLang="en-US" sz="1600" dirty="0"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Cambria Math" panose="02040503050406030204" pitchFamily="18" charset="0"/>
                      <a:ea typeface="华文中宋" panose="02010600040101010101" pitchFamily="2" charset="-122"/>
                    </a:rPr>
                    <a:t>第一轮基础</a:t>
                  </a:r>
                </a:p>
              </p:txBody>
            </p:sp>
          </mc:Choice>
          <mc:Fallback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95D4C3E1-75FA-E799-A68C-9967FC69DF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9556" y="3067495"/>
                  <a:ext cx="2118952" cy="338554"/>
                </a:xfrm>
                <a:prstGeom prst="rect">
                  <a:avLst/>
                </a:prstGeom>
                <a:blipFill>
                  <a:blip r:embed="rId2"/>
                  <a:stretch>
                    <a:fillRect t="-7143" b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DACF657-FFAC-9D2C-D972-A8A5FE5AB7A9}"/>
                </a:ext>
              </a:extLst>
            </p:cNvPr>
            <p:cNvSpPr/>
            <p:nvPr/>
          </p:nvSpPr>
          <p:spPr bwMode="auto">
            <a:xfrm rot="10800000">
              <a:off x="984714" y="3044543"/>
              <a:ext cx="2183794" cy="384457"/>
            </a:xfrm>
            <a:prstGeom prst="rect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rot="10800000"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7408A3CA-AA7D-D335-1AAD-9717A7C4D7E1}"/>
              </a:ext>
            </a:extLst>
          </p:cNvPr>
          <p:cNvSpPr txBox="1"/>
          <p:nvPr/>
        </p:nvSpPr>
        <p:spPr>
          <a:xfrm>
            <a:off x="2702403" y="2399021"/>
            <a:ext cx="1282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入学前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5696DF5-447E-F3B1-55EC-8AFA437B775F}"/>
              </a:ext>
            </a:extLst>
          </p:cNvPr>
          <p:cNvSpPr txBox="1"/>
          <p:nvPr/>
        </p:nvSpPr>
        <p:spPr>
          <a:xfrm>
            <a:off x="6018627" y="2399021"/>
            <a:ext cx="1282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研一阶段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F8167A5-3A22-B87F-FF11-CDDEFAD0EA77}"/>
              </a:ext>
            </a:extLst>
          </p:cNvPr>
          <p:cNvSpPr txBox="1"/>
          <p:nvPr/>
        </p:nvSpPr>
        <p:spPr>
          <a:xfrm>
            <a:off x="9334851" y="2399021"/>
            <a:ext cx="1282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后续阶段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A1B91D1-E8BE-A888-876A-0D010614D4B4}"/>
              </a:ext>
            </a:extLst>
          </p:cNvPr>
          <p:cNvGrpSpPr/>
          <p:nvPr/>
        </p:nvGrpSpPr>
        <p:grpSpPr>
          <a:xfrm>
            <a:off x="5494118" y="3337356"/>
            <a:ext cx="2183794" cy="384457"/>
            <a:chOff x="984714" y="3044543"/>
            <a:chExt cx="2183794" cy="38445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ABBC2BFC-A3A6-4A4B-2752-00D371294628}"/>
                    </a:ext>
                  </a:extLst>
                </p:cNvPr>
                <p:cNvSpPr txBox="1"/>
                <p:nvPr/>
              </p:nvSpPr>
              <p:spPr>
                <a:xfrm>
                  <a:off x="1049556" y="3067495"/>
                  <a:ext cx="211895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zh-CN" altLang="en-US" sz="1600" i="1" smtClean="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进入</m:t>
                      </m:r>
                    </m:oMath>
                  </a14:m>
                  <a:r>
                    <a:rPr lang="zh-CN" altLang="en-US" sz="1600" dirty="0"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Cambria Math" panose="02040503050406030204" pitchFamily="18" charset="0"/>
                      <a:ea typeface="华文中宋" panose="02010600040101010101" pitchFamily="2" charset="-122"/>
                    </a:rPr>
                    <a:t>系统数学训练</a:t>
                  </a:r>
                </a:p>
              </p:txBody>
            </p:sp>
          </mc:Choice>
          <mc:Fallback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ABBC2BFC-A3A6-4A4B-2752-00D3712946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9556" y="3067495"/>
                  <a:ext cx="2118952" cy="338554"/>
                </a:xfrm>
                <a:prstGeom prst="rect">
                  <a:avLst/>
                </a:prstGeom>
                <a:blipFill>
                  <a:blip r:embed="rId3"/>
                  <a:stretch>
                    <a:fillRect t="-7143" b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ECBFC05-B5A4-5EF5-35EF-2E7C272D6BF2}"/>
                </a:ext>
              </a:extLst>
            </p:cNvPr>
            <p:cNvSpPr/>
            <p:nvPr/>
          </p:nvSpPr>
          <p:spPr bwMode="auto">
            <a:xfrm rot="10800000">
              <a:off x="984714" y="3044543"/>
              <a:ext cx="2183794" cy="384457"/>
            </a:xfrm>
            <a:prstGeom prst="rect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rot="10800000"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749E640-5EA5-8BBF-D6C4-D729DC54FD22}"/>
              </a:ext>
            </a:extLst>
          </p:cNvPr>
          <p:cNvGrpSpPr/>
          <p:nvPr/>
        </p:nvGrpSpPr>
        <p:grpSpPr>
          <a:xfrm>
            <a:off x="8884206" y="3314402"/>
            <a:ext cx="2335482" cy="607729"/>
            <a:chOff x="984714" y="3044541"/>
            <a:chExt cx="2335482" cy="60772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7F95A53C-2F89-F174-158E-B36CB7E7AEBB}"/>
                    </a:ext>
                  </a:extLst>
                </p:cNvPr>
                <p:cNvSpPr txBox="1"/>
                <p:nvPr/>
              </p:nvSpPr>
              <p:spPr>
                <a:xfrm>
                  <a:off x="1049556" y="3067495"/>
                  <a:ext cx="227064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zh-CN" altLang="en-US" sz="1600" i="1" smtClean="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结合</m:t>
                      </m:r>
                      <m:r>
                        <a:rPr lang="zh-CN" altLang="en-US" sz="1600" i="1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导师</m:t>
                      </m:r>
                    </m:oMath>
                  </a14:m>
                  <a:r>
                    <a:rPr lang="zh-CN" altLang="en-US" sz="1600" dirty="0"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Cambria Math" panose="02040503050406030204" pitchFamily="18" charset="0"/>
                      <a:ea typeface="华文中宋" panose="02010600040101010101" pitchFamily="2" charset="-122"/>
                    </a:rPr>
                    <a:t>方向和课程训练，进入更具体问题</a:t>
                  </a:r>
                </a:p>
              </p:txBody>
            </p:sp>
          </mc:Choice>
          <mc:Fallback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7F95A53C-2F89-F174-158E-B36CB7E7AE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9556" y="3067495"/>
                  <a:ext cx="2270640" cy="584775"/>
                </a:xfrm>
                <a:prstGeom prst="rect">
                  <a:avLst/>
                </a:prstGeom>
                <a:blipFill>
                  <a:blip r:embed="rId4"/>
                  <a:stretch>
                    <a:fillRect t="-4167" r="-536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9C8ADB5F-4A6E-9CE9-BA0E-41D822B93B1C}"/>
                </a:ext>
              </a:extLst>
            </p:cNvPr>
            <p:cNvSpPr/>
            <p:nvPr/>
          </p:nvSpPr>
          <p:spPr bwMode="auto">
            <a:xfrm rot="10800000">
              <a:off x="984714" y="3044541"/>
              <a:ext cx="2335482" cy="607729"/>
            </a:xfrm>
            <a:prstGeom prst="rect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rot="10800000"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46F70E7A-EDFB-2D1A-8CA2-CE2A7CF3E1FD}"/>
              </a:ext>
            </a:extLst>
          </p:cNvPr>
          <p:cNvSpPr txBox="1"/>
          <p:nvPr/>
        </p:nvSpPr>
        <p:spPr>
          <a:xfrm>
            <a:off x="1816508" y="3873226"/>
            <a:ext cx="3099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华文中宋" panose="02010600040101010101" pitchFamily="2" charset="-122"/>
                <a:ea typeface="华文中宋" panose="02010600040101010101" pitchFamily="2" charset="-122"/>
              </a:rPr>
              <a:t>补齐基础数学专业基础课程的学习，包括：</a:t>
            </a:r>
            <a:endParaRPr lang="en-US" altLang="zh-CN" sz="1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sz="12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实变函数、复变函数、点集拓扑、常微分方程、数学物理方程</a:t>
            </a:r>
            <a:r>
              <a:rPr lang="zh-CN" altLang="en-US" sz="1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等专业课</a:t>
            </a:r>
            <a:endParaRPr lang="en-US" altLang="zh-CN" sz="1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DF4C58F-9282-7828-1DC0-7D3F685BA287}"/>
              </a:ext>
            </a:extLst>
          </p:cNvPr>
          <p:cNvSpPr txBox="1"/>
          <p:nvPr/>
        </p:nvSpPr>
        <p:spPr>
          <a:xfrm>
            <a:off x="1816508" y="4519557"/>
            <a:ext cx="3099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华文中宋" panose="02010600040101010101" pitchFamily="2" charset="-122"/>
                <a:ea typeface="华文中宋" panose="02010600040101010101" pitchFamily="2" charset="-122"/>
              </a:rPr>
              <a:t>掌握专业基本名词，练习</a:t>
            </a:r>
            <a:r>
              <a:rPr lang="en-US" altLang="zh-CN" sz="1200" dirty="0">
                <a:latin typeface="华文中宋" panose="02010600040101010101" pitchFamily="2" charset="-122"/>
                <a:ea typeface="华文中宋" panose="02010600040101010101" pitchFamily="2" charset="-122"/>
              </a:rPr>
              <a:t>Latex</a:t>
            </a:r>
            <a:r>
              <a:rPr lang="zh-CN" altLang="en-US" sz="1200" dirty="0">
                <a:latin typeface="华文中宋" panose="02010600040101010101" pitchFamily="2" charset="-122"/>
                <a:ea typeface="华文中宋" panose="02010600040101010101" pitchFamily="2" charset="-122"/>
              </a:rPr>
              <a:t>写作能力，初步培养数学专业英语文献的阅读能力。</a:t>
            </a:r>
            <a:endParaRPr lang="en-US" altLang="zh-CN" sz="1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6BD3278-400A-129F-1AB1-4E29A558746E}"/>
              </a:ext>
            </a:extLst>
          </p:cNvPr>
          <p:cNvSpPr txBox="1"/>
          <p:nvPr/>
        </p:nvSpPr>
        <p:spPr>
          <a:xfrm>
            <a:off x="5110167" y="3873225"/>
            <a:ext cx="30994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华文中宋" panose="02010600040101010101" pitchFamily="2" charset="-122"/>
                <a:ea typeface="华文中宋" panose="02010600040101010101" pitchFamily="2" charset="-122"/>
              </a:rPr>
              <a:t>进一步扎实推进基础数学专业核心课程的学习，包括：</a:t>
            </a:r>
            <a:r>
              <a:rPr lang="zh-CN" altLang="en-US" sz="12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微分几何、泛函分析</a:t>
            </a:r>
            <a:r>
              <a:rPr lang="zh-CN" altLang="en-US" sz="1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等。并在导师的指导下选择进一步深入的研究方向，包括：</a:t>
            </a:r>
            <a:r>
              <a:rPr lang="zh-CN" altLang="en-US" sz="12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偏微分方程、调和分析、几何分析、复分析、动力系统等</a:t>
            </a:r>
            <a:endParaRPr lang="en-US" altLang="zh-CN" sz="12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E68BFD7-5827-F458-A4F6-B04BAB43A564}"/>
              </a:ext>
            </a:extLst>
          </p:cNvPr>
          <p:cNvSpPr txBox="1"/>
          <p:nvPr/>
        </p:nvSpPr>
        <p:spPr>
          <a:xfrm>
            <a:off x="5110167" y="4888888"/>
            <a:ext cx="3099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华文中宋" panose="02010600040101010101" pitchFamily="2" charset="-122"/>
                <a:ea typeface="华文中宋" panose="02010600040101010101" pitchFamily="2" charset="-122"/>
              </a:rPr>
              <a:t>掌握数学专业英语文献的阅读技能。不断积累所在研究方向的方法和技术</a:t>
            </a:r>
            <a:endParaRPr lang="en-US" altLang="zh-CN" sz="1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1EB4E512-C9B8-EF5E-2FFF-0E5EE10F1402}"/>
              </a:ext>
            </a:extLst>
          </p:cNvPr>
          <p:cNvGrpSpPr/>
          <p:nvPr/>
        </p:nvGrpSpPr>
        <p:grpSpPr>
          <a:xfrm>
            <a:off x="2001653" y="5627553"/>
            <a:ext cx="2729134" cy="369332"/>
            <a:chOff x="795237" y="3044541"/>
            <a:chExt cx="3034032" cy="36933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EA4F5180-401D-7165-D988-98DE7F3BBCA8}"/>
                    </a:ext>
                  </a:extLst>
                </p:cNvPr>
                <p:cNvSpPr txBox="1"/>
                <p:nvPr/>
              </p:nvSpPr>
              <p:spPr>
                <a:xfrm>
                  <a:off x="795237" y="3090707"/>
                  <a:ext cx="303403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zh-CN" altLang="en-US" sz="1200" i="1" smtClean="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调研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lean</m:t>
                      </m:r>
                    </m:oMath>
                  </a14:m>
                  <a:r>
                    <a:rPr lang="en-US" altLang="zh-CN" sz="1200" dirty="0"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Cambria Math" panose="02040503050406030204" pitchFamily="18" charset="0"/>
                      <a:ea typeface="华文中宋" panose="02010600040101010101" pitchFamily="2" charset="-122"/>
                    </a:rPr>
                    <a:t>4</a:t>
                  </a:r>
                  <a:r>
                    <a:rPr lang="zh-CN" altLang="en-US" sz="1200" dirty="0"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Cambria Math" panose="02040503050406030204" pitchFamily="18" charset="0"/>
                      <a:ea typeface="华文中宋" panose="02010600040101010101" pitchFamily="2" charset="-122"/>
                    </a:rPr>
                    <a:t>形式化证明自动化项目</a:t>
                  </a:r>
                </a:p>
              </p:txBody>
            </p:sp>
          </mc:Choice>
          <mc:Fallback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EA4F5180-401D-7165-D988-98DE7F3BBC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237" y="3090707"/>
                  <a:ext cx="3034032" cy="276999"/>
                </a:xfrm>
                <a:prstGeom prst="rect">
                  <a:avLst/>
                </a:prstGeom>
                <a:blipFill>
                  <a:blip r:embed="rId5"/>
                  <a:stretch>
                    <a:fillRect t="-4444" b="-2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5553CBC8-2D73-ABE7-2C47-6A8876FC40B2}"/>
                </a:ext>
              </a:extLst>
            </p:cNvPr>
            <p:cNvSpPr/>
            <p:nvPr/>
          </p:nvSpPr>
          <p:spPr bwMode="auto">
            <a:xfrm rot="10800000">
              <a:off x="984713" y="3044541"/>
              <a:ext cx="2732733" cy="369332"/>
            </a:xfrm>
            <a:prstGeom prst="rect">
              <a:avLst/>
            </a:prstGeom>
            <a:noFill/>
            <a:ln w="38100" cap="flat" cmpd="sng" algn="ctr">
              <a:solidFill>
                <a:schemeClr val="accent5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rot="10800000"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EC112708-478F-0309-B417-F747536B9E63}"/>
              </a:ext>
            </a:extLst>
          </p:cNvPr>
          <p:cNvSpPr txBox="1"/>
          <p:nvPr/>
        </p:nvSpPr>
        <p:spPr>
          <a:xfrm>
            <a:off x="1784087" y="6129523"/>
            <a:ext cx="309942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>
                <a:latin typeface="华文中宋" panose="02010600040101010101" pitchFamily="2" charset="-122"/>
                <a:ea typeface="华文中宋" panose="02010600040101010101" pitchFamily="2" charset="-122"/>
              </a:rPr>
              <a:t>克隆当前已开源的</a:t>
            </a:r>
            <a:r>
              <a:rPr lang="en-US" altLang="zh-CN" sz="1050" dirty="0">
                <a:latin typeface="华文中宋" panose="02010600040101010101" pitchFamily="2" charset="-122"/>
                <a:ea typeface="华文中宋" panose="02010600040101010101" pitchFamily="2" charset="-122"/>
              </a:rPr>
              <a:t>AI4MATH</a:t>
            </a:r>
            <a:r>
              <a:rPr lang="zh-CN" altLang="en-US" sz="105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项目，掌握基本的</a:t>
            </a:r>
            <a:r>
              <a:rPr lang="en-US" altLang="zh-CN" sz="1050" dirty="0">
                <a:latin typeface="华文中宋" panose="02010600040101010101" pitchFamily="2" charset="-122"/>
                <a:ea typeface="华文中宋" panose="02010600040101010101" pitchFamily="2" charset="-122"/>
              </a:rPr>
              <a:t>agent loop</a:t>
            </a:r>
            <a:r>
              <a:rPr lang="zh-CN" altLang="en-US" sz="1050" dirty="0">
                <a:latin typeface="华文中宋" panose="02010600040101010101" pitchFamily="2" charset="-122"/>
                <a:ea typeface="华文中宋" panose="02010600040101010101" pitchFamily="2" charset="-122"/>
              </a:rPr>
              <a:t>形式化证明自动化工作流编排。并尝试用于后续的研究中。</a:t>
            </a:r>
            <a:endParaRPr lang="en-US" altLang="zh-CN" sz="105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35DEB75E-85A3-69A1-739B-7FD918782054}"/>
              </a:ext>
            </a:extLst>
          </p:cNvPr>
          <p:cNvCxnSpPr>
            <a:stCxn id="9" idx="1"/>
          </p:cNvCxnSpPr>
          <p:nvPr/>
        </p:nvCxnSpPr>
        <p:spPr>
          <a:xfrm>
            <a:off x="4425696" y="3529583"/>
            <a:ext cx="106842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9C4FA180-6C62-7448-B783-1E7A7FBEE5BD}"/>
              </a:ext>
            </a:extLst>
          </p:cNvPr>
          <p:cNvCxnSpPr>
            <a:cxnSpLocks/>
          </p:cNvCxnSpPr>
          <p:nvPr/>
        </p:nvCxnSpPr>
        <p:spPr>
          <a:xfrm>
            <a:off x="7669373" y="3529582"/>
            <a:ext cx="121483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ECAE7495-C1DD-4ABA-5F13-9AE0501C401E}"/>
              </a:ext>
            </a:extLst>
          </p:cNvPr>
          <p:cNvCxnSpPr>
            <a:stCxn id="27" idx="1"/>
          </p:cNvCxnSpPr>
          <p:nvPr/>
        </p:nvCxnSpPr>
        <p:spPr>
          <a:xfrm flipV="1">
            <a:off x="4630201" y="5812218"/>
            <a:ext cx="5720807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334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591</Words>
  <Application>Microsoft Office PowerPoint</Application>
  <PresentationFormat>宽屏</PresentationFormat>
  <Paragraphs>79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等线</vt:lpstr>
      <vt:lpstr>等线 Light</vt:lpstr>
      <vt:lpstr>华文中宋</vt:lpstr>
      <vt:lpstr>Arial</vt:lpstr>
      <vt:lpstr>Cambria Math</vt:lpstr>
      <vt:lpstr>Times New Roman</vt:lpstr>
      <vt:lpstr>Office 主题​​</vt:lpstr>
      <vt:lpstr>中国科学院 精密测量研究院复试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sdasdsa dcssf</dc:creator>
  <cp:lastModifiedBy>sdasdsa dcssf</cp:lastModifiedBy>
  <cp:revision>17</cp:revision>
  <dcterms:created xsi:type="dcterms:W3CDTF">2025-03-29T11:33:31Z</dcterms:created>
  <dcterms:modified xsi:type="dcterms:W3CDTF">2026-04-05T10:13:37Z</dcterms:modified>
</cp:coreProperties>
</file>